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81" r:id="rId1"/>
    <p:sldMasterId id="2147483718" r:id="rId2"/>
    <p:sldMasterId id="2147483706" r:id="rId3"/>
    <p:sldMasterId id="2147483682" r:id="rId4"/>
    <p:sldMasterId id="2147483694" r:id="rId5"/>
  </p:sldMasterIdLst>
  <p:notesMasterIdLst>
    <p:notesMasterId r:id="rId17"/>
  </p:notesMasterIdLst>
  <p:sldIdLst>
    <p:sldId id="256" r:id="rId6"/>
    <p:sldId id="261" r:id="rId7"/>
    <p:sldId id="274" r:id="rId8"/>
    <p:sldId id="277" r:id="rId9"/>
    <p:sldId id="269" r:id="rId10"/>
    <p:sldId id="271" r:id="rId11"/>
    <p:sldId id="265" r:id="rId12"/>
    <p:sldId id="270" r:id="rId13"/>
    <p:sldId id="273" r:id="rId14"/>
    <p:sldId id="272" r:id="rId15"/>
    <p:sldId id="263" r:id="rId16"/>
  </p:sldIdLst>
  <p:sldSz cx="9144000" cy="5143500" type="screen16x9"/>
  <p:notesSz cx="6858000" cy="9144000"/>
  <p:embeddedFontLst>
    <p:embeddedFont>
      <p:font typeface="DM Sans" pitchFamily="2" charset="0"/>
      <p:regular r:id="rId18"/>
      <p:bold r:id="rId19"/>
      <p:italic r:id="rId20"/>
      <p:boldItalic r:id="rId21"/>
    </p:embeddedFont>
    <p:embeddedFont>
      <p:font typeface="Outfit" panose="020B0604020202020204" charset="0"/>
      <p:regular r:id="rId22"/>
      <p:bold r:id="rId23"/>
    </p:embeddedFont>
    <p:embeddedFont>
      <p:font typeface="Titillium Web"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23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557E39-1D5C-4A31-9E15-FE1E556FD1C8}">
  <a:tblStyle styleId="{BB557E39-1D5C-4A31-9E15-FE1E556FD1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1" autoAdjust="0"/>
    <p:restoredTop sz="93583" autoAdjust="0"/>
  </p:normalViewPr>
  <p:slideViewPr>
    <p:cSldViewPr snapToGrid="0">
      <p:cViewPr varScale="1">
        <p:scale>
          <a:sx n="78" d="100"/>
          <a:sy n="78" d="100"/>
        </p:scale>
        <p:origin x="21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Master" Target="slideMasters/slideMaster3.xml"/><Relationship Id="rId21" Type="http://schemas.openxmlformats.org/officeDocument/2006/relationships/font" Target="fonts/font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7.fnt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Morning, I hope you are doing well!</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54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5C0C1C0A-C885-09C5-D340-F6D31BD73D8B}"/>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CE675D12-0E72-AE10-BB3A-F502BF700C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66EACEDB-619F-5345-F903-83F4A57D0B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119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1B62A4B8-3B1D-50D9-9FBE-939F8691E785}"/>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925F79D4-FED9-D372-6945-79B54849C1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E1B519C3-47C8-7CDA-338E-4143F8501A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9600" dirty="0"/>
          </a:p>
        </p:txBody>
      </p:sp>
    </p:spTree>
    <p:extLst>
      <p:ext uri="{BB962C8B-B14F-4D97-AF65-F5344CB8AC3E}">
        <p14:creationId xmlns:p14="http://schemas.microsoft.com/office/powerpoint/2010/main" val="1691140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2E8CB5EC-F7B5-12A9-D650-F512D47BB4A0}"/>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BA524E8A-7168-88FD-4C58-F8957063DA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FBC6904D-2999-90EC-0B2A-7361079BCE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22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7BE82ACF-EDDD-6F80-9778-85F87F3A64DA}"/>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D66A05EE-D6EF-5DD2-7B0C-04DFC5DC13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3071D0E6-B496-DB1C-0D51-50ACB756E1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2000" dirty="0"/>
          </a:p>
        </p:txBody>
      </p:sp>
    </p:spTree>
    <p:extLst>
      <p:ext uri="{BB962C8B-B14F-4D97-AF65-F5344CB8AC3E}">
        <p14:creationId xmlns:p14="http://schemas.microsoft.com/office/powerpoint/2010/main" val="175299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6D62068B-B6EA-51F3-0678-EB7E986B9F0D}"/>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3023B164-D40F-0045-BD4D-EDCF6B59CB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20F7DA54-07AF-D330-BF0D-E4D3BF118E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219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7A86033F-86A6-EEED-4447-9FCD4EF26E17}"/>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B2858F3C-C5A7-34BE-10EC-873D37FBDB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53F2F9FA-1005-9F84-DF03-A1CA5C6124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5353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00660AD9-0C17-30AB-34E0-5516D6E50778}"/>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C1BD935F-B8F2-609D-A0EC-9C4626DF7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E05D76FA-BEED-4016-FEDE-AC430006FE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sz="2000" dirty="0"/>
          </a:p>
        </p:txBody>
      </p:sp>
    </p:spTree>
    <p:extLst>
      <p:ext uri="{BB962C8B-B14F-4D97-AF65-F5344CB8AC3E}">
        <p14:creationId xmlns:p14="http://schemas.microsoft.com/office/powerpoint/2010/main" val="1618750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793D6B6B-B745-A709-A23A-C9C5DC62330C}"/>
            </a:ext>
          </a:extLst>
        </p:cNvPr>
        <p:cNvGrpSpPr/>
        <p:nvPr/>
      </p:nvGrpSpPr>
      <p:grpSpPr>
        <a:xfrm>
          <a:off x="0" y="0"/>
          <a:ext cx="0" cy="0"/>
          <a:chOff x="0" y="0"/>
          <a:chExt cx="0" cy="0"/>
        </a:xfrm>
      </p:grpSpPr>
      <p:sp>
        <p:nvSpPr>
          <p:cNvPr id="452" name="Google Shape;452;g14072739ea5_12_0:notes">
            <a:extLst>
              <a:ext uri="{FF2B5EF4-FFF2-40B4-BE49-F238E27FC236}">
                <a16:creationId xmlns:a16="http://schemas.microsoft.com/office/drawing/2014/main" id="{43B289B8-790B-63CE-4368-BAFD2D73EF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a:extLst>
              <a:ext uri="{FF2B5EF4-FFF2-40B4-BE49-F238E27FC236}">
                <a16:creationId xmlns:a16="http://schemas.microsoft.com/office/drawing/2014/main" id="{F26AD0A5-1870-4159-78BD-63E7653505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2000" dirty="0"/>
          </a:p>
        </p:txBody>
      </p:sp>
    </p:spTree>
    <p:extLst>
      <p:ext uri="{BB962C8B-B14F-4D97-AF65-F5344CB8AC3E}">
        <p14:creationId xmlns:p14="http://schemas.microsoft.com/office/powerpoint/2010/main" val="1447479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600">
                <a:latin typeface="Times New Roman" panose="02020603050405020304" pitchFamily="18" charset="0"/>
                <a:ea typeface="Times New Roman" panose="02020603050405020304" pitchFamily="18" charset="0"/>
                <a:cs typeface="Times New Roman" panose="02020603050405020304" pitchFamily="18" charset="0"/>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
        <p:nvSpPr>
          <p:cNvPr id="10" name="Google Shape;10;p2"/>
          <p:cNvSpPr txBox="1">
            <a:spLocks noGrp="1"/>
          </p:cNvSpPr>
          <p:nvPr>
            <p:ph type="subTitle" idx="1"/>
          </p:nvPr>
        </p:nvSpPr>
        <p:spPr>
          <a:xfrm>
            <a:off x="713225" y="3541600"/>
            <a:ext cx="4160700" cy="42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0"/>
        <p:cNvGrpSpPr/>
        <p:nvPr/>
      </p:nvGrpSpPr>
      <p:grpSpPr>
        <a:xfrm>
          <a:off x="0" y="0"/>
          <a:ext cx="0" cy="0"/>
          <a:chOff x="0" y="0"/>
          <a:chExt cx="0" cy="0"/>
        </a:xfrm>
      </p:grpSpPr>
      <p:sp>
        <p:nvSpPr>
          <p:cNvPr id="240" name="Google Shape;2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atin typeface="Times New Roman" panose="02020603050405020304" pitchFamily="18" charset="0"/>
                <a:cs typeface="Times New Roman" panose="02020603050405020304" pitchFamily="18"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241" name="Google Shape;241;p25"/>
          <p:cNvSpPr txBox="1">
            <a:spLocks noGrp="1"/>
          </p:cNvSpPr>
          <p:nvPr>
            <p:ph type="subTitle" idx="1"/>
          </p:nvPr>
        </p:nvSpPr>
        <p:spPr>
          <a:xfrm>
            <a:off x="4646250"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2" name="Google Shape;242;p25"/>
          <p:cNvSpPr txBox="1">
            <a:spLocks noGrp="1"/>
          </p:cNvSpPr>
          <p:nvPr>
            <p:ph type="subTitle" idx="2"/>
          </p:nvPr>
        </p:nvSpPr>
        <p:spPr>
          <a:xfrm>
            <a:off x="1099338"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24A90-E54D-FEEA-5EAA-BB153BF0E49F}"/>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11292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rot="10800000" flipH="1">
                <a:off x="-266661"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2"/>
              <p:cNvSpPr/>
              <p:nvPr/>
            </p:nvSpPr>
            <p:spPr>
              <a:xfrm>
                <a:off x="-90736"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476796"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rot="10800000">
                <a:off x="8571944"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flipH="1">
                <a:off x="8396019"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flipH="1">
                <a:off x="8782079"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rot="10800000">
                <a:off x="8009979"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 name="Google Shape;333;p32"/>
            <p:cNvSpPr/>
            <p:nvPr/>
          </p:nvSpPr>
          <p:spPr>
            <a:xfrm rot="10800000" flipH="1">
              <a:off x="293867"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D3A2-E44D-036B-3021-FC088407F6AF}"/>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1BA286-D397-53F7-486A-FD9684F079E8}"/>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D5CE69-4DF3-C02D-C0EA-8E0C5E60D016}"/>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3656E69E-A762-7E86-16F8-FB80012A9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472A99-807E-6B16-317B-EA000789C0D1}"/>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3967540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7437-A077-3A14-989F-918B7F0920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4F7D13-8FED-C7CD-D983-DEDEBFA4B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1E9B4-D8A1-38CF-9D9D-4B2026C5B81C}"/>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653E076A-F6F2-154D-11D8-1291CB64C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C8D791-E322-4415-249D-016788246D53}"/>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4118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46F38-C1B4-932C-0B67-4A35DDBF337A}"/>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6B7EAB3-92BA-52EE-B2D4-14792CA2694F}"/>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206F87-3387-C8CE-EA95-C600625C47C6}"/>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8F6253BF-9113-836E-3489-803BBE7A1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55E4DC-9A4A-8616-CD57-29699D622EB0}"/>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96218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D463-79AC-B3A4-B9A1-B11DD0254F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C3E5F1-D899-0F34-C024-5D953A68DE85}"/>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CF2DF0-A0DA-F0DD-0AEF-382B80ACBD0A}"/>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F66D76-255B-506F-F55B-7DAE4E112598}"/>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6" name="Footer Placeholder 5">
            <a:extLst>
              <a:ext uri="{FF2B5EF4-FFF2-40B4-BE49-F238E27FC236}">
                <a16:creationId xmlns:a16="http://schemas.microsoft.com/office/drawing/2014/main" id="{53C803B4-7D77-4980-E8FB-866E378BFF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C94053-24B1-ECA6-1B77-667D6CF3F875}"/>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370372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0FF5-40CF-A9CB-ABBB-1C2D9D7A7F01}"/>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868547-1EEF-4B7E-9A51-EB527B5D265A}"/>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5CEEBF-3C34-FE95-E087-837D1482F88B}"/>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77A202-FE07-8CB1-17AA-2AD16F2819D5}"/>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D37673-D1B5-3517-C74F-734653762DB5}"/>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29C4D8-1B00-0D9D-5E31-BE1A78437DB7}"/>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8" name="Footer Placeholder 7">
            <a:extLst>
              <a:ext uri="{FF2B5EF4-FFF2-40B4-BE49-F238E27FC236}">
                <a16:creationId xmlns:a16="http://schemas.microsoft.com/office/drawing/2014/main" id="{F0556239-0510-6827-3B84-5200E41FCC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4BE3AE-1DC8-D2FE-6829-B26742E5703D}"/>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1829832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049E-C4D0-464B-D9C1-E46EF284F2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8100F8-7093-2C29-A7F9-6200B877171D}"/>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4" name="Footer Placeholder 3">
            <a:extLst>
              <a:ext uri="{FF2B5EF4-FFF2-40B4-BE49-F238E27FC236}">
                <a16:creationId xmlns:a16="http://schemas.microsoft.com/office/drawing/2014/main" id="{DA70429B-7A1C-D3EF-DC8E-3F58477E95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1D8093-D226-F50C-974A-5C5DEA42DFE3}"/>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122382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B50B4C-24ED-B222-E2E5-6D3A83F785F2}"/>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3" name="Footer Placeholder 2">
            <a:extLst>
              <a:ext uri="{FF2B5EF4-FFF2-40B4-BE49-F238E27FC236}">
                <a16:creationId xmlns:a16="http://schemas.microsoft.com/office/drawing/2014/main" id="{6E3AC847-EBCE-015A-382C-ADEB1E615E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BDD46F-0025-565E-76AB-5BD1AE7CFC95}"/>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3429499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68B4-59B8-9D8C-38FC-1C5B2FE6120A}"/>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1D55EA-806C-8885-E24C-D2390EA1DD99}"/>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48E3BC-0A47-436B-181B-62151A4797AF}"/>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092946-90D9-EDB9-397D-6B1127645DBB}"/>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6" name="Footer Placeholder 5">
            <a:extLst>
              <a:ext uri="{FF2B5EF4-FFF2-40B4-BE49-F238E27FC236}">
                <a16:creationId xmlns:a16="http://schemas.microsoft.com/office/drawing/2014/main" id="{BA2F912D-45AA-A169-75CD-5AC254DF0D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BE69B9-2A67-1ABE-7EB1-79D8E48CF472}"/>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1659822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3509-886A-8B08-F1E8-0DADDC76D157}"/>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66BA6A-767F-E363-35C4-7789DC18FA6A}"/>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2AA485-FFE9-C164-CD7A-EE4FC239B4E3}"/>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CE55C-0DA9-25CF-6E83-9343403F48CF}"/>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6" name="Footer Placeholder 5">
            <a:extLst>
              <a:ext uri="{FF2B5EF4-FFF2-40B4-BE49-F238E27FC236}">
                <a16:creationId xmlns:a16="http://schemas.microsoft.com/office/drawing/2014/main" id="{8E965F32-3A66-72B0-8416-3E3DFD7383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B1838C-8009-21CA-123E-B3C654E94BC4}"/>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2411097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EEB2-A7FC-E988-F682-EB51DCC694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3354B5-6FAB-5090-9769-AA95A25359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2F5CC8-E35D-9801-751B-EA75EC2DBB41}"/>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B67CC2BC-C64A-AFC5-8DFC-7FE6B5E5E5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82FAEF-047D-653C-6E7D-7805163A1977}"/>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3305860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E304C3-38D5-0FCB-78C4-0EE9BE2AC15D}"/>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CF2C2D-6763-617B-0C4C-23B50DD744DC}"/>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50335B-DE2D-492D-371F-9B4A6E0B84D1}"/>
              </a:ext>
            </a:extLst>
          </p:cNvPr>
          <p:cNvSpPr>
            <a:spLocks noGrp="1"/>
          </p:cNvSpPr>
          <p:nvPr>
            <p:ph type="dt" sz="half" idx="10"/>
          </p:nvPr>
        </p:nvSpPr>
        <p:spPr/>
        <p:txBody>
          <a:body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AD27236C-9EA2-C0E5-7882-A086264426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9CA3E-2506-3EAC-6095-80D295296ED0}"/>
              </a:ext>
            </a:extLst>
          </p:cNvPr>
          <p:cNvSpPr>
            <a:spLocks noGrp="1"/>
          </p:cNvSpPr>
          <p:nvPr>
            <p:ph type="sldNum" sz="quarter" idx="12"/>
          </p:nvPr>
        </p:nvSpPr>
        <p:spPr/>
        <p:txBody>
          <a:bodyPr/>
          <a:lstStyle/>
          <a:p>
            <a:fld id="{694D89F4-B2B6-4E8A-85CC-06E34BB0EFE3}" type="slidenum">
              <a:rPr lang="en-IN" smtClean="0"/>
              <a:t>‹#›</a:t>
            </a:fld>
            <a:endParaRPr lang="en-IN"/>
          </a:p>
        </p:txBody>
      </p:sp>
    </p:spTree>
    <p:extLst>
      <p:ext uri="{BB962C8B-B14F-4D97-AF65-F5344CB8AC3E}">
        <p14:creationId xmlns:p14="http://schemas.microsoft.com/office/powerpoint/2010/main" val="26978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1984A-DC9B-FF97-E6C3-F7DA1EA33E5B}"/>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10A183-2D2F-57AC-BFEE-9339AA50E923}"/>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43ABF4-DC96-3AB9-C53C-48EDC5E47704}"/>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83B4121D-D049-BBEC-6217-5CA86D5977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886BBE-2202-CFB5-BAD0-00AEB8E0C4F2}"/>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662365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6FFC9-CFDB-BB30-6B0C-92818A3CC3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E01EFC-6007-1F04-C2C8-ECF7CEB1EA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8DD07F-71BF-FAE5-EEB1-48E71F26A08D}"/>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0BB33F25-7B4F-E601-BAA9-5D5B1B86EE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1314AD-2A62-2BBD-93A4-91FCFEDFD438}"/>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553224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4F14-00C8-103F-B98C-ADFF09C53370}"/>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8A14AD-CE87-91FE-F030-E00B3962C8E9}"/>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2D40BF-A42F-1F1E-26AF-2A5DBC8667C9}"/>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35E5FF3C-8DD7-BF73-ECE2-5D825A8F01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5A53A2-B5F4-5A25-CE28-BCB15B36D6B3}"/>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36632626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A0B1-BFCA-8286-AF6A-91A0F8D86F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39801A-C1C2-72F5-31F8-0A36D466358E}"/>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BE987E-D344-A016-4E3A-9DBF1CB8BE9F}"/>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A1A528-C6EF-EDBE-1D5A-9AD765998629}"/>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6" name="Footer Placeholder 5">
            <a:extLst>
              <a:ext uri="{FF2B5EF4-FFF2-40B4-BE49-F238E27FC236}">
                <a16:creationId xmlns:a16="http://schemas.microsoft.com/office/drawing/2014/main" id="{CCCB6521-D688-5907-8BAF-930A795037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16C4CF-A459-A371-A37C-D199EA1D4FC1}"/>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860879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6CFE-AB1B-F866-0205-C29E2818BB88}"/>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A04B54-516D-E015-AD06-B1006540190D}"/>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D02FEA-308E-C18C-3C40-01EA0D2E30BB}"/>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B39803-7790-1098-8C18-6767F5FE891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CFE441-7196-1BC6-002D-4EE2CC37942D}"/>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EE1DB7-86DC-F34C-BDE6-FF71054C858E}"/>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8" name="Footer Placeholder 7">
            <a:extLst>
              <a:ext uri="{FF2B5EF4-FFF2-40B4-BE49-F238E27FC236}">
                <a16:creationId xmlns:a16="http://schemas.microsoft.com/office/drawing/2014/main" id="{172EF855-7D7B-5735-22B8-B11EA7D749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3A81CE-2356-96AB-53D4-C3460ACAAA92}"/>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15127173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D12D6-45A2-E898-724B-BB38ABA81B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3846BB-D719-3995-74A0-0A4FCCC7B795}"/>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4" name="Footer Placeholder 3">
            <a:extLst>
              <a:ext uri="{FF2B5EF4-FFF2-40B4-BE49-F238E27FC236}">
                <a16:creationId xmlns:a16="http://schemas.microsoft.com/office/drawing/2014/main" id="{14B0B8E2-AE8A-854A-141D-99B9414D97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E6C94E-5917-BD78-BEFA-97E76A7F7088}"/>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2069826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809081-E3DF-5275-0643-4142C2038F92}"/>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3" name="Footer Placeholder 2">
            <a:extLst>
              <a:ext uri="{FF2B5EF4-FFF2-40B4-BE49-F238E27FC236}">
                <a16:creationId xmlns:a16="http://schemas.microsoft.com/office/drawing/2014/main" id="{BE598F03-0A65-93F8-8B89-6B694BD976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19757B-0700-F8C7-448C-7D6AF176DA94}"/>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39068944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8098-7DEE-D4B6-8C27-2FFAD68D43D3}"/>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DE5911-9B0D-336E-A96D-766670E8063E}"/>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790B34-5ABB-7EA8-CD85-951B410A41AB}"/>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5D6622-8BF1-057A-1D88-10CA1AB21326}"/>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6" name="Footer Placeholder 5">
            <a:extLst>
              <a:ext uri="{FF2B5EF4-FFF2-40B4-BE49-F238E27FC236}">
                <a16:creationId xmlns:a16="http://schemas.microsoft.com/office/drawing/2014/main" id="{74009023-DD28-F4EF-4B80-D586536D46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9342F3-DAEF-A9FF-F62C-B4B9C6023DC8}"/>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12363623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3B0CB-0D97-3041-AD45-BCEE68EA45D8}"/>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EE6463-4249-6ED1-9666-3D54CF078EF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01D62D-F533-5774-6DC8-64914CE2CFBC}"/>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C668B-4040-8D94-6691-073B7BA1D63D}"/>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6" name="Footer Placeholder 5">
            <a:extLst>
              <a:ext uri="{FF2B5EF4-FFF2-40B4-BE49-F238E27FC236}">
                <a16:creationId xmlns:a16="http://schemas.microsoft.com/office/drawing/2014/main" id="{6D5AFBBD-8708-DB56-D89E-87B3A85C22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A082EA-F469-7BD8-8226-B5295A3599EE}"/>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722752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FD7D-87D7-3896-C577-F519978E3F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6A4CE5-748C-0203-4B0C-4F2C491996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653D0-ADBC-FF77-6C17-5675B7CCC2E2}"/>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857F1980-7CFC-60C1-1626-5EE3D84F24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112076-1645-F932-CF54-1B262CD36601}"/>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818090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9D6EAF-0533-C349-E52C-7AB77DDA0BBC}"/>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315F79-0351-7EE7-FC36-1FA198816390}"/>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14F435-C05F-67C2-1189-5177C80844C7}"/>
              </a:ext>
            </a:extLst>
          </p:cNvPr>
          <p:cNvSpPr>
            <a:spLocks noGrp="1"/>
          </p:cNvSpPr>
          <p:nvPr>
            <p:ph type="dt" sz="half" idx="10"/>
          </p:nvPr>
        </p:nvSpPr>
        <p:spPr/>
        <p:txBody>
          <a:body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5CF4D303-C283-5979-4230-5930EB663A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4F704-A687-8FD3-7396-7585E4552DAF}"/>
              </a:ext>
            </a:extLst>
          </p:cNvPr>
          <p:cNvSpPr>
            <a:spLocks noGrp="1"/>
          </p:cNvSpPr>
          <p:nvPr>
            <p:ph type="sldNum" sz="quarter" idx="12"/>
          </p:nvPr>
        </p:nvSpPr>
        <p:spPr/>
        <p:txBody>
          <a:bodyPr/>
          <a:lstStyle/>
          <a:p>
            <a:fld id="{B996C670-52F6-4230-88F2-7906F329D0DC}" type="slidenum">
              <a:rPr lang="en-IN" smtClean="0"/>
              <a:t>‹#›</a:t>
            </a:fld>
            <a:endParaRPr lang="en-IN"/>
          </a:p>
        </p:txBody>
      </p:sp>
    </p:spTree>
    <p:extLst>
      <p:ext uri="{BB962C8B-B14F-4D97-AF65-F5344CB8AC3E}">
        <p14:creationId xmlns:p14="http://schemas.microsoft.com/office/powerpoint/2010/main" val="10456856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90125-F6C8-BE62-0BEA-FE5EC05C94EC}"/>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055BFA-FCD2-BC44-2415-E79A716656E9}"/>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DC038F-B45B-875A-730E-73C437D99F9A}"/>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666CD6A3-C76F-A7D3-EEA4-9C8EB77C5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A76D1C-D2AF-74FF-108D-454C28A1C2BB}"/>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1792571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D170-F411-8750-B5C4-27226789BE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D76E05-787D-30F1-5BBF-AB6864DA8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A4A62-2D2E-E37A-60AE-E2642724D1D9}"/>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040E29C0-3DC0-65B9-F3E5-FA40C475BF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35266B-FE61-896A-63FC-D6FE639DD104}"/>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3137466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0BA8-8E0D-A0D6-5F92-11B71F712EE0}"/>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A5CCF08-D215-3A46-C83F-45E7C55AC397}"/>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B80974-7881-6083-4481-A8CBC899638B}"/>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87866190-9994-D0FF-FE1C-5B76B1C3FD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0C51B1-8213-AF95-F333-81967AB81A5B}"/>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20536726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2355C-CEC2-5E19-EF07-4C31E0D861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B6E10D-D344-23B2-DA0F-7187CE388831}"/>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35B6E4-14AF-EB3E-3903-BF094A882DCB}"/>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6CB34A-7C61-E85C-9C47-0C695A5108D4}"/>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6" name="Footer Placeholder 5">
            <a:extLst>
              <a:ext uri="{FF2B5EF4-FFF2-40B4-BE49-F238E27FC236}">
                <a16:creationId xmlns:a16="http://schemas.microsoft.com/office/drawing/2014/main" id="{28C68268-C45C-A0CD-56D2-92C62CDCCB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4C764C-6725-CED0-6B8E-784D1CD2E4CB}"/>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14346410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7A803-1836-615D-5937-E1EBD980B6A0}"/>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25758-65E2-D258-2E2C-93718821D582}"/>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FB4127-C546-6BC5-370B-357373C78B63}"/>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CAFD9B-886A-781D-4733-F1FD7CD53D06}"/>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1EE3D0-7646-AE29-A48F-EF62745CBF45}"/>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E8249B-8406-AC02-F29F-C79FE87A0559}"/>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8" name="Footer Placeholder 7">
            <a:extLst>
              <a:ext uri="{FF2B5EF4-FFF2-40B4-BE49-F238E27FC236}">
                <a16:creationId xmlns:a16="http://schemas.microsoft.com/office/drawing/2014/main" id="{86624CF8-F6BC-9453-94A4-18B35BE923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5D5C74-DB1D-7385-D84F-E2194A623844}"/>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1936328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98DE1-44AC-36E8-FDD4-81C8F94F0F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E19ACC-837E-8455-6A75-A42CEB515315}"/>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4" name="Footer Placeholder 3">
            <a:extLst>
              <a:ext uri="{FF2B5EF4-FFF2-40B4-BE49-F238E27FC236}">
                <a16:creationId xmlns:a16="http://schemas.microsoft.com/office/drawing/2014/main" id="{6E413A47-009C-3980-BA8B-FFE12291A5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B6498E-E4C9-D341-262E-E1C112A3EFF1}"/>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8805076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9611AB-B874-4F81-DE9B-507D1BCD3BFB}"/>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3" name="Footer Placeholder 2">
            <a:extLst>
              <a:ext uri="{FF2B5EF4-FFF2-40B4-BE49-F238E27FC236}">
                <a16:creationId xmlns:a16="http://schemas.microsoft.com/office/drawing/2014/main" id="{FA59C613-5665-5BC7-65B9-8A2B50AF9B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934694-5290-B5A6-3E16-A20FEA953533}"/>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3949918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0586-2E5E-CC25-26CD-77DF2FAA466E}"/>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34DCA7-39D3-D725-484C-67B8FD20C88F}"/>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7A2BEB-7AEB-16B2-80ED-1172041A8FD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906122-593B-8560-BF20-4B7892D201E7}"/>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6" name="Footer Placeholder 5">
            <a:extLst>
              <a:ext uri="{FF2B5EF4-FFF2-40B4-BE49-F238E27FC236}">
                <a16:creationId xmlns:a16="http://schemas.microsoft.com/office/drawing/2014/main" id="{A694E162-014A-022B-8A16-0D844E29C6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F3E9BF-2ED0-E674-4C85-D57686A45D82}"/>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33888707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596E-8420-A530-5EE6-0652CA918C15}"/>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3BC7BD-9A13-8271-1461-C7BC1AB3D759}"/>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9930C0-EEAE-E5C5-CB05-3D2BAB083D01}"/>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B26931-786C-147D-212D-C73794DE09E3}"/>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6" name="Footer Placeholder 5">
            <a:extLst>
              <a:ext uri="{FF2B5EF4-FFF2-40B4-BE49-F238E27FC236}">
                <a16:creationId xmlns:a16="http://schemas.microsoft.com/office/drawing/2014/main" id="{FE8BD190-2D5A-E0E3-A602-02B69E74E1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46C824-FF71-C1BC-6E53-95CBE23A7E63}"/>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2402757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9A047-0C3F-FAB3-BBBD-800FD1EC7D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74913B-5D0E-1B8E-86F4-9173831B1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F044FF-CEE6-7647-1CF6-18D757C51705}"/>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CCE525DB-7DAD-C50E-667B-C5D9AA3DA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EBAF3B-EF59-2AC6-C160-8CBA9AB417FA}"/>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2738359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FA5BE9-1D9E-9CBA-E411-4ED66FB736AC}"/>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FE557C-80D0-7438-E03B-77043E122435}"/>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D8F6D-AE00-C453-75D8-2D79CAAB8DAB}"/>
              </a:ext>
            </a:extLst>
          </p:cNvPr>
          <p:cNvSpPr>
            <a:spLocks noGrp="1"/>
          </p:cNvSpPr>
          <p:nvPr>
            <p:ph type="dt" sz="half" idx="10"/>
          </p:nvPr>
        </p:nvSpPr>
        <p:spPr/>
        <p:txBody>
          <a:body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CA43E83E-CDC0-A4B3-DF87-F8E5D528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82847-23BB-E6DF-2CBF-EE4F9531B0C0}"/>
              </a:ext>
            </a:extLst>
          </p:cNvPr>
          <p:cNvSpPr>
            <a:spLocks noGrp="1"/>
          </p:cNvSpPr>
          <p:nvPr>
            <p:ph type="sldNum" sz="quarter" idx="12"/>
          </p:nvPr>
        </p:nvSpPr>
        <p:spPr/>
        <p:txBody>
          <a:bodyPr/>
          <a:lstStyle/>
          <a:p>
            <a:fld id="{D40AAFE2-0250-486E-914C-CE488E3ABCD7}" type="slidenum">
              <a:rPr lang="en-IN" smtClean="0"/>
              <a:t>‹#›</a:t>
            </a:fld>
            <a:endParaRPr lang="en-IN"/>
          </a:p>
        </p:txBody>
      </p:sp>
    </p:spTree>
    <p:extLst>
      <p:ext uri="{BB962C8B-B14F-4D97-AF65-F5344CB8AC3E}">
        <p14:creationId xmlns:p14="http://schemas.microsoft.com/office/powerpoint/2010/main" val="34116709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5F90-B9BD-4BDD-1697-8374935A52F7}"/>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B2A242-D357-3F94-B85A-79AF94CE9CF6}"/>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930870-44C7-C861-6DAD-F64FEED8AD10}"/>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F549E3BC-970B-BB77-B6E1-4252B7B634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62F59D-2C7A-2458-C8BC-B3154812732E}"/>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7250446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93D9D-C68F-A099-5B73-32DB5E1252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60AE76-4744-85B6-628E-6CC7DDB6FB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3B9C0-9E4E-E4CF-B7E7-229B11D474B6}"/>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7118F6D0-F730-8AD5-3862-3F12DA6BA8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818A22-D5DA-CEA9-1724-B7D8ED80A64E}"/>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1674896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0847-2238-405A-D8C7-4F9451498CB6}"/>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66C492-F085-AD9E-6BED-6430EB8A6E3F}"/>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EB188A-9215-6EB1-D0C3-8A0E80D4AC14}"/>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51015590-16E4-051B-5A3A-B7F7389ED8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4F59D2-B0F6-C67F-E0D6-B7D974904520}"/>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15084191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FC65-363C-D05C-7400-E04F8A7EF0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D234E0-5659-E86D-FD7F-35119A74C234}"/>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85059F-4072-D80A-EB30-01FCBCBDD71C}"/>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FF9848-6D0A-D1E1-6D49-95745416B4A9}"/>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6" name="Footer Placeholder 5">
            <a:extLst>
              <a:ext uri="{FF2B5EF4-FFF2-40B4-BE49-F238E27FC236}">
                <a16:creationId xmlns:a16="http://schemas.microsoft.com/office/drawing/2014/main" id="{56ED8CBD-A96E-4F18-44D5-666CB7C17E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E056B0-5699-C07C-A8FC-CAD73925E4D3}"/>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36818786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B5D47-724E-D9BD-01FF-4429A91F27E0}"/>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3E580A-F92C-1674-45C0-895379046123}"/>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8418A-08C0-8338-3DD3-A0EF88D8ADEB}"/>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35BE65-B3FE-A732-BFC6-527D6DD11A98}"/>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12719E-083C-94E3-3F66-BDCAB3E32241}"/>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32A9F3-2584-2321-2793-0A833EE14206}"/>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8" name="Footer Placeholder 7">
            <a:extLst>
              <a:ext uri="{FF2B5EF4-FFF2-40B4-BE49-F238E27FC236}">
                <a16:creationId xmlns:a16="http://schemas.microsoft.com/office/drawing/2014/main" id="{D190E07F-7296-7250-8387-35C75BD809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C937C1-CA55-6E4B-5A56-654979E1DAD0}"/>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30969823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6E2F-1A71-47F0-2C5F-80B5633E19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474131-D8F1-AF66-36E9-68974B301AE5}"/>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4" name="Footer Placeholder 3">
            <a:extLst>
              <a:ext uri="{FF2B5EF4-FFF2-40B4-BE49-F238E27FC236}">
                <a16:creationId xmlns:a16="http://schemas.microsoft.com/office/drawing/2014/main" id="{4A6625A8-CD81-26A4-0642-CCFFE60671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3EE873-5AEB-264A-016B-0A11E0882C36}"/>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15256057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EB412D-019E-EBB8-9B36-53FEC7B249A2}"/>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3" name="Footer Placeholder 2">
            <a:extLst>
              <a:ext uri="{FF2B5EF4-FFF2-40B4-BE49-F238E27FC236}">
                <a16:creationId xmlns:a16="http://schemas.microsoft.com/office/drawing/2014/main" id="{CE7C4F16-EF76-082F-C33C-5C1D7D0869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41A04C-D445-DED2-245C-76DB61744D31}"/>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18569679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7AD2A-7523-28C5-A369-12ACA39A25B9}"/>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655779-7391-C9CA-615B-D95A526E3B0C}"/>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BD7214-0C2E-906F-1699-C3A33F76A9CB}"/>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FD319-3C31-F8CB-FC56-83C1B5A1CFED}"/>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6" name="Footer Placeholder 5">
            <a:extLst>
              <a:ext uri="{FF2B5EF4-FFF2-40B4-BE49-F238E27FC236}">
                <a16:creationId xmlns:a16="http://schemas.microsoft.com/office/drawing/2014/main" id="{9E627809-ACCF-8C11-D7D9-C1344C0636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682A0F-006B-F71B-E1AF-1AFBB852DE76}"/>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9764669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E3F05-E3F9-1153-4A32-18EB398C25C4}"/>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6A65F2-B6A6-F3FA-D40B-69328A8E4063}"/>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9B6ACE7-0C59-0455-7C80-6DA40FF86228}"/>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E247A-3ABC-B8E0-DBED-22D784C3874F}"/>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6" name="Footer Placeholder 5">
            <a:extLst>
              <a:ext uri="{FF2B5EF4-FFF2-40B4-BE49-F238E27FC236}">
                <a16:creationId xmlns:a16="http://schemas.microsoft.com/office/drawing/2014/main" id="{8803A1F9-1615-70D6-5E4E-963096859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040D33-E5E9-F2D1-C301-220952610D25}"/>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13638154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D25B-C027-730F-405B-B5D7FDA127B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573A30-98CB-4FB3-759A-F193BD1970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55064-0C97-7296-2387-A47BC14A3F24}"/>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F6F10990-6F4C-ACBF-007C-D7EA5EC02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3AD554-07E2-733E-B8CC-BB00628F3097}"/>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22719783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D065D-D107-C526-83C0-4B98A0791915}"/>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A4FC31-3019-0235-9D65-AB049CEC4FF8}"/>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0DD39D-ACF9-53BB-545D-8CA17F021BD5}"/>
              </a:ext>
            </a:extLst>
          </p:cNvPr>
          <p:cNvSpPr>
            <a:spLocks noGrp="1"/>
          </p:cNvSpPr>
          <p:nvPr>
            <p:ph type="dt" sz="half" idx="10"/>
          </p:nvPr>
        </p:nvSpPr>
        <p:spPr/>
        <p:txBody>
          <a:body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8BAF3C2D-DF99-6E5B-E95C-D0C01F46C9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464BF6-8401-4591-8F29-1C19A75682A4}"/>
              </a:ext>
            </a:extLst>
          </p:cNvPr>
          <p:cNvSpPr>
            <a:spLocks noGrp="1"/>
          </p:cNvSpPr>
          <p:nvPr>
            <p:ph type="sldNum" sz="quarter" idx="12"/>
          </p:nvPr>
        </p:nvSpPr>
        <p:spPr/>
        <p:txBody>
          <a:bodyPr/>
          <a:lstStyle/>
          <a:p>
            <a:fld id="{3312A20D-AF89-4A87-AB47-6368D75B09BD}" type="slidenum">
              <a:rPr lang="en-IN" smtClean="0"/>
              <a:t>‹#›</a:t>
            </a:fld>
            <a:endParaRPr lang="en-IN"/>
          </a:p>
        </p:txBody>
      </p:sp>
    </p:spTree>
    <p:extLst>
      <p:ext uri="{BB962C8B-B14F-4D97-AF65-F5344CB8AC3E}">
        <p14:creationId xmlns:p14="http://schemas.microsoft.com/office/powerpoint/2010/main" val="39617601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5.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a:endParaRPr dirty="0"/>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1" r:id="rId3"/>
    <p:sldLayoutId id="2147483677" r:id="rId4"/>
    <p:sldLayoutId id="2147483679" r:id="rId5"/>
    <p:sldLayoutId id="2147483678"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A85003-1CB1-D9DA-20BB-87D163EA5044}"/>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002189-FDB2-BA4E-0AB9-BD347AC88430}"/>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26F38-C1BC-C929-3322-390871465B3C}"/>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A75D1C85-94B7-4FB8-BDDE-B3179D83B2A6}" type="datetimeFigureOut">
              <a:rPr lang="en-IN" smtClean="0"/>
              <a:t>13-01-2025</a:t>
            </a:fld>
            <a:endParaRPr lang="en-IN"/>
          </a:p>
        </p:txBody>
      </p:sp>
      <p:sp>
        <p:nvSpPr>
          <p:cNvPr id="5" name="Footer Placeholder 4">
            <a:extLst>
              <a:ext uri="{FF2B5EF4-FFF2-40B4-BE49-F238E27FC236}">
                <a16:creationId xmlns:a16="http://schemas.microsoft.com/office/drawing/2014/main" id="{7772A5AE-A4E4-57D7-8345-DC514A53405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A6AE3B0-ED48-F35C-D58A-888809E0423E}"/>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694D89F4-B2B6-4E8A-85CC-06E34BB0EFE3}" type="slidenum">
              <a:rPr lang="en-IN" smtClean="0"/>
              <a:t>‹#›</a:t>
            </a:fld>
            <a:endParaRPr lang="en-IN"/>
          </a:p>
        </p:txBody>
      </p:sp>
    </p:spTree>
    <p:extLst>
      <p:ext uri="{BB962C8B-B14F-4D97-AF65-F5344CB8AC3E}">
        <p14:creationId xmlns:p14="http://schemas.microsoft.com/office/powerpoint/2010/main" val="65795142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01A164-A2CB-50C5-1DDA-DE65220F347E}"/>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1B5CE1-7128-398E-A015-FE52851400DB}"/>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ACEAA-F58F-319B-10AA-BEA191BE943D}"/>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B5210DBA-C2C7-42EC-A8E5-68C5E580D34C}" type="datetimeFigureOut">
              <a:rPr lang="en-IN" smtClean="0"/>
              <a:t>13-01-2025</a:t>
            </a:fld>
            <a:endParaRPr lang="en-IN"/>
          </a:p>
        </p:txBody>
      </p:sp>
      <p:sp>
        <p:nvSpPr>
          <p:cNvPr id="5" name="Footer Placeholder 4">
            <a:extLst>
              <a:ext uri="{FF2B5EF4-FFF2-40B4-BE49-F238E27FC236}">
                <a16:creationId xmlns:a16="http://schemas.microsoft.com/office/drawing/2014/main" id="{BE7E80CE-EA84-2603-A76F-03420E6D9C8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6CDFED-09DC-750E-6176-D60CF5C28BD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996C670-52F6-4230-88F2-7906F329D0DC}" type="slidenum">
              <a:rPr lang="en-IN" smtClean="0"/>
              <a:t>‹#›</a:t>
            </a:fld>
            <a:endParaRPr lang="en-IN"/>
          </a:p>
        </p:txBody>
      </p:sp>
    </p:spTree>
    <p:extLst>
      <p:ext uri="{BB962C8B-B14F-4D97-AF65-F5344CB8AC3E}">
        <p14:creationId xmlns:p14="http://schemas.microsoft.com/office/powerpoint/2010/main" val="313199980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C9115-636A-304C-482B-F1BC6CFC1AAF}"/>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380BEB-60FC-9C14-5B26-26325A5E58F6}"/>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856BC6-716E-1A24-8C46-3E302C1046B9}"/>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B2C96EEC-B94F-4C61-93FB-DC92628E99B1}" type="datetimeFigureOut">
              <a:rPr lang="en-IN" smtClean="0"/>
              <a:t>13-01-2025</a:t>
            </a:fld>
            <a:endParaRPr lang="en-IN"/>
          </a:p>
        </p:txBody>
      </p:sp>
      <p:sp>
        <p:nvSpPr>
          <p:cNvPr id="5" name="Footer Placeholder 4">
            <a:extLst>
              <a:ext uri="{FF2B5EF4-FFF2-40B4-BE49-F238E27FC236}">
                <a16:creationId xmlns:a16="http://schemas.microsoft.com/office/drawing/2014/main" id="{86CA178B-7884-6562-B45F-92C0FEF90E6F}"/>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EB5128-93AE-F732-8CBC-2AF83F9AAB4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D40AAFE2-0250-486E-914C-CE488E3ABCD7}" type="slidenum">
              <a:rPr lang="en-IN" smtClean="0"/>
              <a:t>‹#›</a:t>
            </a:fld>
            <a:endParaRPr lang="en-IN"/>
          </a:p>
        </p:txBody>
      </p:sp>
    </p:spTree>
    <p:extLst>
      <p:ext uri="{BB962C8B-B14F-4D97-AF65-F5344CB8AC3E}">
        <p14:creationId xmlns:p14="http://schemas.microsoft.com/office/powerpoint/2010/main" val="223352449"/>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B407C2-2293-3B89-9691-D1FB825ACB08}"/>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DB282-99BF-2A35-F574-D668014B76A9}"/>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AADD1A-90D2-777D-7883-2DD1AF587FC7}"/>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CA4FBD22-27F7-41C2-B24C-C92A816825BA}" type="datetimeFigureOut">
              <a:rPr lang="en-IN" smtClean="0"/>
              <a:t>13-01-2025</a:t>
            </a:fld>
            <a:endParaRPr lang="en-IN"/>
          </a:p>
        </p:txBody>
      </p:sp>
      <p:sp>
        <p:nvSpPr>
          <p:cNvPr id="5" name="Footer Placeholder 4">
            <a:extLst>
              <a:ext uri="{FF2B5EF4-FFF2-40B4-BE49-F238E27FC236}">
                <a16:creationId xmlns:a16="http://schemas.microsoft.com/office/drawing/2014/main" id="{2D9665BF-C0BD-5D99-8C79-92FC73DB140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78E95C-C000-7480-44DF-83D10E4526DE}"/>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312A20D-AF89-4A87-AB47-6368D75B09BD}" type="slidenum">
              <a:rPr lang="en-IN" smtClean="0"/>
              <a:t>‹#›</a:t>
            </a:fld>
            <a:endParaRPr lang="en-IN"/>
          </a:p>
        </p:txBody>
      </p:sp>
    </p:spTree>
    <p:extLst>
      <p:ext uri="{BB962C8B-B14F-4D97-AF65-F5344CB8AC3E}">
        <p14:creationId xmlns:p14="http://schemas.microsoft.com/office/powerpoint/2010/main" val="191068086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6"/>
          <p:cNvSpPr txBox="1">
            <a:spLocks noGrp="1"/>
          </p:cNvSpPr>
          <p:nvPr>
            <p:ph type="ctrTitle"/>
          </p:nvPr>
        </p:nvSpPr>
        <p:spPr>
          <a:xfrm>
            <a:off x="543045" y="907543"/>
            <a:ext cx="5440888" cy="255443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3200" dirty="0">
                <a:solidFill>
                  <a:srgbClr val="263238"/>
                </a:solidFill>
                <a:latin typeface="Times New Roman" panose="02020603050405020304" pitchFamily="18" charset="0"/>
                <a:cs typeface="Times New Roman" panose="02020603050405020304" pitchFamily="18" charset="0"/>
                <a:sym typeface="DM Sans"/>
              </a:rPr>
              <a:t>Develop models to estimate the lifetime value of customers based on usage patterns and demographics</a:t>
            </a:r>
            <a:br>
              <a:rPr kumimoji="0" lang="en-US" sz="3200" b="1" i="0" u="none" strike="noStrike" kern="0" cap="none" spc="0" normalizeH="0" baseline="0" noProof="0" dirty="0">
                <a:ln>
                  <a:noFill/>
                </a:ln>
                <a:solidFill>
                  <a:srgbClr val="263238"/>
                </a:solidFill>
                <a:effectLst/>
                <a:uLnTx/>
                <a:uFillTx/>
                <a:latin typeface="Titillium Web"/>
                <a:sym typeface="Titillium Web"/>
              </a:rPr>
            </a:br>
            <a:endParaRPr lang="en-US" sz="3200" dirty="0"/>
          </a:p>
        </p:txBody>
      </p:sp>
      <p:sp>
        <p:nvSpPr>
          <p:cNvPr id="345" name="Google Shape;345;p36"/>
          <p:cNvSpPr txBox="1">
            <a:spLocks noGrp="1"/>
          </p:cNvSpPr>
          <p:nvPr>
            <p:ph type="subTitle" idx="1"/>
          </p:nvPr>
        </p:nvSpPr>
        <p:spPr>
          <a:xfrm>
            <a:off x="462337" y="3515499"/>
            <a:ext cx="4964414" cy="720459"/>
          </a:xfrm>
          <a:prstGeom prst="rect">
            <a:avLst/>
          </a:prstGeom>
        </p:spPr>
        <p:txBody>
          <a:bodyPr spcFirstLastPara="1" wrap="square" lIns="91425" tIns="91425" rIns="91425" bIns="91425" anchor="t" anchorCtr="0">
            <a:noAutofit/>
          </a:bodyPr>
          <a:lstStyle/>
          <a:p>
            <a:r>
              <a:rPr lang="en-IN" sz="1800" b="1" dirty="0">
                <a:solidFill>
                  <a:srgbClr val="263238"/>
                </a:solidFill>
                <a:latin typeface="Times New Roman" panose="02020603050405020304" pitchFamily="18" charset="0"/>
                <a:cs typeface="Times New Roman" panose="02020603050405020304" pitchFamily="18" charset="0"/>
                <a:sym typeface="Outfit"/>
              </a:rPr>
              <a:t>Siri Chandana Dhurjati</a:t>
            </a:r>
          </a:p>
          <a:p>
            <a:r>
              <a:rPr lang="en-IN" sz="1800" b="1" dirty="0">
                <a:solidFill>
                  <a:srgbClr val="263238"/>
                </a:solidFill>
                <a:latin typeface="Times New Roman" panose="02020603050405020304" pitchFamily="18" charset="0"/>
                <a:cs typeface="Times New Roman" panose="02020603050405020304" pitchFamily="18" charset="0"/>
                <a:sym typeface="Outfit"/>
              </a:rPr>
              <a:t>W9621119</a:t>
            </a:r>
            <a:br>
              <a:rPr lang="en-IN" dirty="0">
                <a:solidFill>
                  <a:schemeClr val="tx1">
                    <a:lumMod val="50000"/>
                  </a:schemeClr>
                </a:solidFill>
                <a:latin typeface="Times New Roman" panose="02020603050405020304" pitchFamily="18" charset="0"/>
                <a:cs typeface="Times New Roman" panose="02020603050405020304" pitchFamily="18" charset="0"/>
              </a:rPr>
            </a:br>
            <a:endParaRPr lang="en-IN" dirty="0">
              <a:solidFill>
                <a:schemeClr val="tx1">
                  <a:lumMod val="50000"/>
                </a:schemeClr>
              </a:solidFill>
              <a:latin typeface="Times New Roman" panose="02020603050405020304" pitchFamily="18" charset="0"/>
              <a:cs typeface="Times New Roman" panose="02020603050405020304" pitchFamily="18" charset="0"/>
            </a:endParaRPr>
          </a:p>
        </p:txBody>
      </p:sp>
      <p:cxnSp>
        <p:nvCxnSpPr>
          <p:cNvPr id="346" name="Google Shape;346;p36"/>
          <p:cNvCxnSpPr/>
          <p:nvPr/>
        </p:nvCxnSpPr>
        <p:spPr>
          <a:xfrm>
            <a:off x="823425" y="987213"/>
            <a:ext cx="373500" cy="0"/>
          </a:xfrm>
          <a:prstGeom prst="straightConnector1">
            <a:avLst/>
          </a:prstGeom>
          <a:noFill/>
          <a:ln w="19050" cap="flat" cmpd="sng">
            <a:solidFill>
              <a:schemeClr val="dk1"/>
            </a:solidFill>
            <a:prstDash val="solid"/>
            <a:round/>
            <a:headEnd type="none" w="med" len="med"/>
            <a:tailEnd type="none" w="med" len="med"/>
          </a:ln>
        </p:spPr>
      </p:cxnSp>
      <p:grpSp>
        <p:nvGrpSpPr>
          <p:cNvPr id="347" name="Google Shape;347;p36"/>
          <p:cNvGrpSpPr/>
          <p:nvPr/>
        </p:nvGrpSpPr>
        <p:grpSpPr>
          <a:xfrm>
            <a:off x="4964910" y="818170"/>
            <a:ext cx="4275118" cy="6450405"/>
            <a:chOff x="5115337" y="-428624"/>
            <a:chExt cx="4275118" cy="6450405"/>
          </a:xfrm>
        </p:grpSpPr>
        <p:sp>
          <p:nvSpPr>
            <p:cNvPr id="348" name="Google Shape;348;p36"/>
            <p:cNvSpPr/>
            <p:nvPr/>
          </p:nvSpPr>
          <p:spPr>
            <a:xfrm rot="10800000" flipH="1">
              <a:off x="8492525" y="-1927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 name="Google Shape;349;p36"/>
            <p:cNvSpPr/>
            <p:nvPr/>
          </p:nvSpPr>
          <p:spPr>
            <a:xfrm>
              <a:off x="8551745" y="32678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 name="Google Shape;350;p36"/>
            <p:cNvSpPr/>
            <p:nvPr/>
          </p:nvSpPr>
          <p:spPr>
            <a:xfrm>
              <a:off x="6606686"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 name="Google Shape;351;p36"/>
            <p:cNvSpPr/>
            <p:nvPr/>
          </p:nvSpPr>
          <p:spPr>
            <a:xfrm>
              <a:off x="7103477"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 name="Google Shape;352;p36"/>
            <p:cNvSpPr/>
            <p:nvPr/>
          </p:nvSpPr>
          <p:spPr>
            <a:xfrm>
              <a:off x="6684072"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 name="Google Shape;353;p36"/>
            <p:cNvSpPr/>
            <p:nvPr/>
          </p:nvSpPr>
          <p:spPr>
            <a:xfrm>
              <a:off x="6109895" y="11940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 name="Google Shape;354;p36"/>
            <p:cNvSpPr/>
            <p:nvPr/>
          </p:nvSpPr>
          <p:spPr>
            <a:xfrm>
              <a:off x="6109895" y="6977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36"/>
            <p:cNvSpPr/>
            <p:nvPr/>
          </p:nvSpPr>
          <p:spPr>
            <a:xfrm>
              <a:off x="7587339" y="1194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 name="Google Shape;356;p36"/>
            <p:cNvSpPr/>
            <p:nvPr/>
          </p:nvSpPr>
          <p:spPr>
            <a:xfrm>
              <a:off x="5634170" y="-42862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 name="Google Shape;357;p36"/>
            <p:cNvSpPr/>
            <p:nvPr/>
          </p:nvSpPr>
          <p:spPr>
            <a:xfrm>
              <a:off x="7017892"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36"/>
            <p:cNvSpPr/>
            <p:nvPr/>
          </p:nvSpPr>
          <p:spPr>
            <a:xfrm>
              <a:off x="5193798" y="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9" name="Google Shape;359;p36"/>
            <p:cNvSpPr/>
            <p:nvPr/>
          </p:nvSpPr>
          <p:spPr>
            <a:xfrm>
              <a:off x="8068891" y="16222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 name="Google Shape;360;p36"/>
            <p:cNvSpPr/>
            <p:nvPr/>
          </p:nvSpPr>
          <p:spPr>
            <a:xfrm rot="10800000" flipH="1">
              <a:off x="5115337" y="3655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 name="Google Shape;361;p36"/>
            <p:cNvSpPr/>
            <p:nvPr/>
          </p:nvSpPr>
          <p:spPr>
            <a:xfrm rot="10800000" flipH="1">
              <a:off x="6606680" y="39247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 name="Google Shape;362;p36"/>
            <p:cNvSpPr/>
            <p:nvPr/>
          </p:nvSpPr>
          <p:spPr>
            <a:xfrm rot="10800000" flipH="1">
              <a:off x="5983934" y="50536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36"/>
            <p:cNvSpPr/>
            <p:nvPr/>
          </p:nvSpPr>
          <p:spPr>
            <a:xfrm rot="10800000" flipH="1">
              <a:off x="7178797" y="35333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 name="Google Shape;364;p36"/>
            <p:cNvSpPr/>
            <p:nvPr/>
          </p:nvSpPr>
          <p:spPr>
            <a:xfrm rot="10800000" flipH="1">
              <a:off x="6606686" y="460940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 name="Google Shape;365;p36"/>
            <p:cNvSpPr/>
            <p:nvPr/>
          </p:nvSpPr>
          <p:spPr>
            <a:xfrm rot="10800000" flipH="1">
              <a:off x="5526543" y="41283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 name="Google Shape;366;p36"/>
            <p:cNvSpPr/>
            <p:nvPr/>
          </p:nvSpPr>
          <p:spPr>
            <a:xfrm>
              <a:off x="8117298" y="28522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 name="Google Shape;367;p36"/>
            <p:cNvSpPr/>
            <p:nvPr/>
          </p:nvSpPr>
          <p:spPr>
            <a:xfrm>
              <a:off x="8172542" y="3036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descr="A logo with text on it&#10;&#10;Description automatically generated">
            <a:extLst>
              <a:ext uri="{FF2B5EF4-FFF2-40B4-BE49-F238E27FC236}">
                <a16:creationId xmlns:a16="http://schemas.microsoft.com/office/drawing/2014/main" id="{10A50F98-74E3-5F50-D38B-0E094578F160}"/>
              </a:ext>
            </a:extLst>
          </p:cNvPr>
          <p:cNvPicPr>
            <a:picLocks noChangeAspect="1"/>
          </p:cNvPicPr>
          <p:nvPr/>
        </p:nvPicPr>
        <p:blipFill>
          <a:blip r:embed="rId3"/>
          <a:stretch>
            <a:fillRect/>
          </a:stretch>
        </p:blipFill>
        <p:spPr>
          <a:xfrm>
            <a:off x="7633167" y="32397"/>
            <a:ext cx="1416243" cy="720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latin typeface="Times New Roman" panose="02020603050405020304" pitchFamily="18" charset="0"/>
                <a:cs typeface="Times New Roman" panose="02020603050405020304" pitchFamily="18" charset="0"/>
              </a:rPr>
              <a:t>Introduction and Problem Statement</a:t>
            </a:r>
            <a:endParaRPr sz="2400" dirty="0">
              <a:latin typeface="Times New Roman" panose="02020603050405020304" pitchFamily="18" charset="0"/>
              <a:cs typeface="Times New Roman" panose="02020603050405020304" pitchFamily="18" charset="0"/>
            </a:endParaRPr>
          </a:p>
        </p:txBody>
      </p:sp>
      <p:sp>
        <p:nvSpPr>
          <p:cNvPr id="20" name="Subtitle 19">
            <a:extLst>
              <a:ext uri="{FF2B5EF4-FFF2-40B4-BE49-F238E27FC236}">
                <a16:creationId xmlns:a16="http://schemas.microsoft.com/office/drawing/2014/main" id="{F4BCE0F7-7A9A-5796-AC70-FD799D8117D4}"/>
              </a:ext>
            </a:extLst>
          </p:cNvPr>
          <p:cNvSpPr>
            <a:spLocks noGrp="1"/>
          </p:cNvSpPr>
          <p:nvPr>
            <p:ph sz="half" idx="1"/>
          </p:nvPr>
        </p:nvSpPr>
        <p:spPr>
          <a:xfrm>
            <a:off x="483908" y="796109"/>
            <a:ext cx="8068687" cy="968121"/>
          </a:xfrm>
        </p:spPr>
        <p:txBody>
          <a:bodyPr>
            <a:normAutofit/>
          </a:bodyPr>
          <a:lstStyle/>
          <a:p>
            <a:pPr marL="139700" indent="0">
              <a:lnSpc>
                <a:spcPct val="150000"/>
              </a:lnSpc>
              <a:buNone/>
            </a:pPr>
            <a:r>
              <a:rPr lang="en-GB" sz="1200" dirty="0">
                <a:solidFill>
                  <a:schemeClr val="tx1">
                    <a:lumMod val="50000"/>
                  </a:schemeClr>
                </a:solidFill>
                <a:latin typeface="Times New Roman" panose="02020603050405020304" pitchFamily="18" charset="0"/>
                <a:cs typeface="Times New Roman" panose="02020603050405020304" pitchFamily="18" charset="0"/>
              </a:rPr>
              <a:t>The research focuses on conventional Customer Lifetime Value calculation issues, such as outmoded techniques and data constraints. Using Machine Learning combines demographics and behavioural patterns for improved prediction accuracy, which helps businesses make informed decisions on marketing, customer relationships, and resource allocation.</a:t>
            </a:r>
            <a:endParaRPr lang="en-GB" sz="1200" dirty="0"/>
          </a:p>
        </p:txBody>
      </p:sp>
      <p:grpSp>
        <p:nvGrpSpPr>
          <p:cNvPr id="6" name="Google Shape;314;p31">
            <a:extLst>
              <a:ext uri="{FF2B5EF4-FFF2-40B4-BE49-F238E27FC236}">
                <a16:creationId xmlns:a16="http://schemas.microsoft.com/office/drawing/2014/main" id="{C78291C3-1BBD-6B71-75BA-FB8534C75ABC}"/>
              </a:ext>
            </a:extLst>
          </p:cNvPr>
          <p:cNvGrpSpPr/>
          <p:nvPr/>
        </p:nvGrpSpPr>
        <p:grpSpPr>
          <a:xfrm>
            <a:off x="-247305" y="-443294"/>
            <a:ext cx="9638610" cy="6030088"/>
            <a:chOff x="-247298" y="-446215"/>
            <a:chExt cx="9638610" cy="6030088"/>
          </a:xfrm>
        </p:grpSpPr>
        <p:sp>
          <p:nvSpPr>
            <p:cNvPr id="7" name="Google Shape;315;p31">
              <a:extLst>
                <a:ext uri="{FF2B5EF4-FFF2-40B4-BE49-F238E27FC236}">
                  <a16:creationId xmlns:a16="http://schemas.microsoft.com/office/drawing/2014/main" id="{74A72393-8A55-373C-57AF-C393C7B4FCDD}"/>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316;p31">
              <a:extLst>
                <a:ext uri="{FF2B5EF4-FFF2-40B4-BE49-F238E27FC236}">
                  <a16:creationId xmlns:a16="http://schemas.microsoft.com/office/drawing/2014/main" id="{C7F1F243-6243-64E8-10ED-ADBECE5F00FE}"/>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17;p31">
              <a:extLst>
                <a:ext uri="{FF2B5EF4-FFF2-40B4-BE49-F238E27FC236}">
                  <a16:creationId xmlns:a16="http://schemas.microsoft.com/office/drawing/2014/main" id="{9BC70F4E-31FA-71EF-9A6D-5668DE8B9EFD}"/>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18;p31">
              <a:extLst>
                <a:ext uri="{FF2B5EF4-FFF2-40B4-BE49-F238E27FC236}">
                  <a16:creationId xmlns:a16="http://schemas.microsoft.com/office/drawing/2014/main" id="{9862BE11-2EC4-BFD1-D1B0-BD68D9185040}"/>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319;p31">
              <a:extLst>
                <a:ext uri="{FF2B5EF4-FFF2-40B4-BE49-F238E27FC236}">
                  <a16:creationId xmlns:a16="http://schemas.microsoft.com/office/drawing/2014/main" id="{F785B9FD-DF67-4AF7-3EDE-F50BC7740422}"/>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320;p31">
              <a:extLst>
                <a:ext uri="{FF2B5EF4-FFF2-40B4-BE49-F238E27FC236}">
                  <a16:creationId xmlns:a16="http://schemas.microsoft.com/office/drawing/2014/main" id="{7D2F0BFF-7CC7-A566-CACE-DB00D73ACDC3}"/>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21;p31">
              <a:extLst>
                <a:ext uri="{FF2B5EF4-FFF2-40B4-BE49-F238E27FC236}">
                  <a16:creationId xmlns:a16="http://schemas.microsoft.com/office/drawing/2014/main" id="{1F62F5D0-8963-46A0-0F0E-85D3222DADA9}"/>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322;p31">
              <a:extLst>
                <a:ext uri="{FF2B5EF4-FFF2-40B4-BE49-F238E27FC236}">
                  <a16:creationId xmlns:a16="http://schemas.microsoft.com/office/drawing/2014/main" id="{C01F1CA7-A748-B7EE-7815-1D85E3D5EDAE}"/>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 name="Content Placeholder 23">
            <a:extLst>
              <a:ext uri="{FF2B5EF4-FFF2-40B4-BE49-F238E27FC236}">
                <a16:creationId xmlns:a16="http://schemas.microsoft.com/office/drawing/2014/main" id="{1B136D73-7005-26F4-A3D7-D0820FA2326E}"/>
              </a:ext>
            </a:extLst>
          </p:cNvPr>
          <p:cNvSpPr>
            <a:spLocks noGrp="1"/>
          </p:cNvSpPr>
          <p:nvPr>
            <p:ph sz="half" idx="2"/>
          </p:nvPr>
        </p:nvSpPr>
        <p:spPr>
          <a:xfrm>
            <a:off x="591405" y="2017919"/>
            <a:ext cx="3867150" cy="3262312"/>
          </a:xfrm>
        </p:spPr>
        <p:txBody>
          <a:bodyPr>
            <a:normAutofit/>
          </a:bodyPr>
          <a:lstStyle/>
          <a:p>
            <a:pPr marL="0" indent="0">
              <a:buNone/>
            </a:pPr>
            <a:r>
              <a:rPr lang="en" sz="2000" dirty="0">
                <a:latin typeface="Times New Roman" panose="02020603050405020304" pitchFamily="18" charset="0"/>
                <a:cs typeface="Times New Roman" panose="02020603050405020304" pitchFamily="18" charset="0"/>
              </a:rPr>
              <a:t>Problem Statement</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No behavioral data for Customer Lifetime Value methods currently.</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Challenges: Static Models, Outdated Data, Low Accuracy</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Solution: Advance Machine Learning with real time and demographic integration</a:t>
            </a:r>
          </a:p>
          <a:p>
            <a:pPr marL="0" indent="0">
              <a:buNone/>
            </a:pPr>
            <a:endParaRPr lang="en-GB" sz="2000" dirty="0"/>
          </a:p>
        </p:txBody>
      </p:sp>
      <p:pic>
        <p:nvPicPr>
          <p:cNvPr id="25" name="Picture 24">
            <a:extLst>
              <a:ext uri="{FF2B5EF4-FFF2-40B4-BE49-F238E27FC236}">
                <a16:creationId xmlns:a16="http://schemas.microsoft.com/office/drawing/2014/main" id="{4E07DD71-839E-7507-4EA7-6276C12304D9}"/>
              </a:ext>
            </a:extLst>
          </p:cNvPr>
          <p:cNvPicPr>
            <a:picLocks noChangeAspect="1"/>
          </p:cNvPicPr>
          <p:nvPr/>
        </p:nvPicPr>
        <p:blipFill>
          <a:blip r:embed="rId3"/>
          <a:stretch>
            <a:fillRect/>
          </a:stretch>
        </p:blipFill>
        <p:spPr>
          <a:xfrm>
            <a:off x="4515106" y="1986346"/>
            <a:ext cx="3859102" cy="19508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178F9642-D1FF-7630-EAC9-13B59BC4D8F5}"/>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CCCFA781-EFA7-C533-1F45-D718D7C73EE1}"/>
              </a:ext>
            </a:extLst>
          </p:cNvPr>
          <p:cNvSpPr txBox="1">
            <a:spLocks noGrp="1"/>
          </p:cNvSpPr>
          <p:nvPr>
            <p:ph type="title"/>
          </p:nvPr>
        </p:nvSpPr>
        <p:spPr>
          <a:xfrm>
            <a:off x="929967" y="27800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rPr>
              <a:t>Research Aim  and Objectives</a:t>
            </a:r>
            <a:endParaRPr sz="2400" dirty="0">
              <a:solidFill>
                <a:srgbClr val="1C232A"/>
              </a:solidFill>
              <a:latin typeface="Times New Roman" panose="02020603050405020304" pitchFamily="18" charset="0"/>
              <a:cs typeface="Times New Roman" panose="02020603050405020304" pitchFamily="18" charset="0"/>
            </a:endParaRPr>
          </a:p>
        </p:txBody>
      </p:sp>
      <p:sp>
        <p:nvSpPr>
          <p:cNvPr id="457" name="Google Shape;457;p41">
            <a:extLst>
              <a:ext uri="{FF2B5EF4-FFF2-40B4-BE49-F238E27FC236}">
                <a16:creationId xmlns:a16="http://schemas.microsoft.com/office/drawing/2014/main" id="{6EA173C9-74A3-1AD4-639F-D640BCCF526B}"/>
              </a:ext>
            </a:extLst>
          </p:cNvPr>
          <p:cNvSpPr txBox="1">
            <a:spLocks noGrp="1"/>
          </p:cNvSpPr>
          <p:nvPr>
            <p:ph type="subTitle" idx="2"/>
          </p:nvPr>
        </p:nvSpPr>
        <p:spPr>
          <a:xfrm>
            <a:off x="591352" y="2630157"/>
            <a:ext cx="3980588" cy="2590307"/>
          </a:xfrm>
          <a:prstGeom prst="rect">
            <a:avLst/>
          </a:prstGeom>
        </p:spPr>
        <p:txBody>
          <a:bodyPr spcFirstLastPara="1" wrap="square" lIns="91425" tIns="91425" rIns="91425" bIns="91425" anchor="t" anchorCtr="0">
            <a:noAutofit/>
          </a:bodyPr>
          <a:lstStyle/>
          <a:p>
            <a:pPr marL="0" indent="0">
              <a:lnSpc>
                <a:spcPct val="150000"/>
              </a:lnSpc>
            </a:pPr>
            <a:r>
              <a:rPr lang="en-US" sz="2000" b="1" dirty="0">
                <a:solidFill>
                  <a:schemeClr val="tx1">
                    <a:lumMod val="50000"/>
                  </a:schemeClr>
                </a:solidFill>
                <a:latin typeface="Times New Roman" panose="02020603050405020304" pitchFamily="18" charset="0"/>
                <a:cs typeface="Times New Roman" panose="02020603050405020304" pitchFamily="18" charset="0"/>
              </a:rPr>
              <a:t>Aim:</a:t>
            </a:r>
            <a:endParaRPr lang="en-US" sz="2000" b="1" dirty="0">
              <a:latin typeface="Times New Roman" panose="02020603050405020304" pitchFamily="18" charset="0"/>
              <a:cs typeface="Times New Roman" panose="02020603050405020304" pitchFamily="18" charset="0"/>
            </a:endParaRPr>
          </a:p>
          <a:p>
            <a:pPr marL="0" indent="0">
              <a:lnSpc>
                <a:spcPct val="150000"/>
              </a:lnSpc>
            </a:pPr>
            <a:r>
              <a:rPr lang="en-GB" sz="1200" dirty="0">
                <a:solidFill>
                  <a:schemeClr val="tx1">
                    <a:lumMod val="50000"/>
                  </a:schemeClr>
                </a:solidFill>
                <a:latin typeface="Times New Roman" panose="02020603050405020304" pitchFamily="18" charset="0"/>
                <a:cs typeface="Times New Roman" panose="02020603050405020304" pitchFamily="18" charset="0"/>
              </a:rPr>
              <a:t>To develop advanced machine learning models for accurately estimating Customer Lifetime Value by incorporating demographic data, usage patterns, and behavioural insights to enhance predictive capabilities and support strategic business decisions.</a:t>
            </a:r>
          </a:p>
          <a:p>
            <a:pPr marL="285750" indent="-285750">
              <a:lnSpc>
                <a:spcPct val="150000"/>
              </a:lnSpc>
              <a:buFont typeface="Arial" panose="020B0604020202020204" pitchFamily="34" charset="0"/>
              <a:buChar char="•"/>
            </a:pPr>
            <a:endParaRPr lang="en-US" sz="1200" dirty="0">
              <a:solidFill>
                <a:schemeClr val="tx1">
                  <a:lumMod val="50000"/>
                </a:schemeClr>
              </a:solidFill>
              <a:latin typeface="Times New Roman" panose="02020603050405020304" pitchFamily="18" charset="0"/>
              <a:cs typeface="Times New Roman" panose="02020603050405020304" pitchFamily="18" charset="0"/>
            </a:endParaRPr>
          </a:p>
        </p:txBody>
      </p:sp>
      <p:grpSp>
        <p:nvGrpSpPr>
          <p:cNvPr id="4" name="Google Shape;314;p31">
            <a:extLst>
              <a:ext uri="{FF2B5EF4-FFF2-40B4-BE49-F238E27FC236}">
                <a16:creationId xmlns:a16="http://schemas.microsoft.com/office/drawing/2014/main" id="{D71384E3-A9D5-20C9-B90B-2DF6E1C15A32}"/>
              </a:ext>
            </a:extLst>
          </p:cNvPr>
          <p:cNvGrpSpPr/>
          <p:nvPr/>
        </p:nvGrpSpPr>
        <p:grpSpPr>
          <a:xfrm>
            <a:off x="-247305" y="-313807"/>
            <a:ext cx="9638610" cy="6030088"/>
            <a:chOff x="-247298" y="-446215"/>
            <a:chExt cx="9638610" cy="6030088"/>
          </a:xfrm>
        </p:grpSpPr>
        <p:sp>
          <p:nvSpPr>
            <p:cNvPr id="5" name="Google Shape;315;p31">
              <a:extLst>
                <a:ext uri="{FF2B5EF4-FFF2-40B4-BE49-F238E27FC236}">
                  <a16:creationId xmlns:a16="http://schemas.microsoft.com/office/drawing/2014/main" id="{B308A920-1ACD-E13C-65A1-3B272638F7DE}"/>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316;p31">
              <a:extLst>
                <a:ext uri="{FF2B5EF4-FFF2-40B4-BE49-F238E27FC236}">
                  <a16:creationId xmlns:a16="http://schemas.microsoft.com/office/drawing/2014/main" id="{2F0BF0FB-AEBA-26FD-C271-D878C0E06F05}"/>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317;p31">
              <a:extLst>
                <a:ext uri="{FF2B5EF4-FFF2-40B4-BE49-F238E27FC236}">
                  <a16:creationId xmlns:a16="http://schemas.microsoft.com/office/drawing/2014/main" id="{CCF2AC7E-307A-1801-9FFF-F9359CC5D999}"/>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318;p31">
              <a:extLst>
                <a:ext uri="{FF2B5EF4-FFF2-40B4-BE49-F238E27FC236}">
                  <a16:creationId xmlns:a16="http://schemas.microsoft.com/office/drawing/2014/main" id="{85FC898B-24E8-189F-35C5-3E83765CFE81}"/>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19;p31">
              <a:extLst>
                <a:ext uri="{FF2B5EF4-FFF2-40B4-BE49-F238E27FC236}">
                  <a16:creationId xmlns:a16="http://schemas.microsoft.com/office/drawing/2014/main" id="{081E2CEC-74F6-1554-C837-6E523DC403F4}"/>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20;p31">
              <a:extLst>
                <a:ext uri="{FF2B5EF4-FFF2-40B4-BE49-F238E27FC236}">
                  <a16:creationId xmlns:a16="http://schemas.microsoft.com/office/drawing/2014/main" id="{2C5DA489-BD28-5931-563A-A01F14705244}"/>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321;p31">
              <a:extLst>
                <a:ext uri="{FF2B5EF4-FFF2-40B4-BE49-F238E27FC236}">
                  <a16:creationId xmlns:a16="http://schemas.microsoft.com/office/drawing/2014/main" id="{B3565D88-6438-5443-B778-5F5A2D016EEB}"/>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322;p31">
              <a:extLst>
                <a:ext uri="{FF2B5EF4-FFF2-40B4-BE49-F238E27FC236}">
                  <a16:creationId xmlns:a16="http://schemas.microsoft.com/office/drawing/2014/main" id="{A380DAE7-1B2C-713D-103C-2DDF9406DFDC}"/>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4" name="Picture 13">
            <a:extLst>
              <a:ext uri="{FF2B5EF4-FFF2-40B4-BE49-F238E27FC236}">
                <a16:creationId xmlns:a16="http://schemas.microsoft.com/office/drawing/2014/main" id="{50469878-1D11-3B65-ECA2-C11AFEA86F67}"/>
              </a:ext>
            </a:extLst>
          </p:cNvPr>
          <p:cNvPicPr>
            <a:picLocks noChangeAspect="1"/>
          </p:cNvPicPr>
          <p:nvPr/>
        </p:nvPicPr>
        <p:blipFill>
          <a:blip r:embed="rId3"/>
          <a:stretch>
            <a:fillRect/>
          </a:stretch>
        </p:blipFill>
        <p:spPr>
          <a:xfrm>
            <a:off x="591352" y="901977"/>
            <a:ext cx="3413016" cy="1919821"/>
          </a:xfrm>
          <a:prstGeom prst="rect">
            <a:avLst/>
          </a:prstGeom>
        </p:spPr>
      </p:pic>
      <p:pic>
        <p:nvPicPr>
          <p:cNvPr id="2" name="Picture 1" descr="A diagram of a diagram&#10;&#10;Description automatically generated">
            <a:extLst>
              <a:ext uri="{FF2B5EF4-FFF2-40B4-BE49-F238E27FC236}">
                <a16:creationId xmlns:a16="http://schemas.microsoft.com/office/drawing/2014/main" id="{DAE33537-F4DC-D263-8DE4-9880C8036840}"/>
              </a:ext>
            </a:extLst>
          </p:cNvPr>
          <p:cNvPicPr>
            <a:picLocks noChangeAspect="1"/>
          </p:cNvPicPr>
          <p:nvPr/>
        </p:nvPicPr>
        <p:blipFill>
          <a:blip r:embed="rId4"/>
          <a:stretch>
            <a:fillRect/>
          </a:stretch>
        </p:blipFill>
        <p:spPr>
          <a:xfrm>
            <a:off x="4962175" y="860566"/>
            <a:ext cx="3556045" cy="2070474"/>
          </a:xfrm>
          <a:prstGeom prst="rect">
            <a:avLst/>
          </a:prstGeom>
        </p:spPr>
      </p:pic>
      <p:sp>
        <p:nvSpPr>
          <p:cNvPr id="3" name="Google Shape;457;p41">
            <a:extLst>
              <a:ext uri="{FF2B5EF4-FFF2-40B4-BE49-F238E27FC236}">
                <a16:creationId xmlns:a16="http://schemas.microsoft.com/office/drawing/2014/main" id="{EB0A8722-D7C0-9DDA-E755-FCE5C2E25A7D}"/>
              </a:ext>
            </a:extLst>
          </p:cNvPr>
          <p:cNvSpPr txBox="1">
            <a:spLocks/>
          </p:cNvSpPr>
          <p:nvPr/>
        </p:nvSpPr>
        <p:spPr>
          <a:xfrm>
            <a:off x="5031838" y="2926615"/>
            <a:ext cx="4589253" cy="26514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nSpc>
                <a:spcPct val="150000"/>
              </a:lnSpc>
            </a:pPr>
            <a:r>
              <a:rPr lang="en-US" sz="2000" b="1" dirty="0">
                <a:solidFill>
                  <a:schemeClr val="tx1">
                    <a:lumMod val="50000"/>
                  </a:schemeClr>
                </a:solidFill>
                <a:latin typeface="Times New Roman" panose="02020603050405020304" pitchFamily="18" charset="0"/>
                <a:cs typeface="Times New Roman" panose="02020603050405020304" pitchFamily="18" charset="0"/>
              </a:rPr>
              <a:t>Objectives:</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Improve Machine Learning models.</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Get to know engagement-value connections</a:t>
            </a:r>
          </a:p>
          <a:p>
            <a:pPr marL="285750" indent="-285750">
              <a:lnSpc>
                <a:spcPct val="150000"/>
              </a:lnSpc>
              <a:buFont typeface="Arial" panose="020B0604020202020204" pitchFamily="34" charset="0"/>
              <a:buChar char="•"/>
            </a:pPr>
            <a:r>
              <a:rPr lang="en-US" sz="1200" dirty="0">
                <a:solidFill>
                  <a:schemeClr val="tx1">
                    <a:lumMod val="50000"/>
                  </a:schemeClr>
                </a:solidFill>
                <a:latin typeface="Times New Roman" panose="02020603050405020304" pitchFamily="18" charset="0"/>
                <a:cs typeface="Times New Roman" panose="02020603050405020304" pitchFamily="18" charset="0"/>
              </a:rPr>
              <a:t>Tackle address estimation issues</a:t>
            </a:r>
          </a:p>
        </p:txBody>
      </p:sp>
    </p:spTree>
    <p:extLst>
      <p:ext uri="{BB962C8B-B14F-4D97-AF65-F5344CB8AC3E}">
        <p14:creationId xmlns:p14="http://schemas.microsoft.com/office/powerpoint/2010/main" val="397624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086FF0FD-EEC9-6DD5-226B-1F8FD9A4ED8E}"/>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1E579A97-C2FE-DB1F-114B-94F4B0A67913}"/>
              </a:ext>
            </a:extLst>
          </p:cNvPr>
          <p:cNvSpPr txBox="1">
            <a:spLocks noGrp="1"/>
          </p:cNvSpPr>
          <p:nvPr>
            <p:ph type="title"/>
          </p:nvPr>
        </p:nvSpPr>
        <p:spPr>
          <a:xfrm>
            <a:off x="814487" y="31021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rPr>
              <a:t>Proposed Solutions and Research Methodology</a:t>
            </a:r>
            <a:endParaRPr sz="2400" dirty="0">
              <a:solidFill>
                <a:srgbClr val="1C232A"/>
              </a:solidFill>
            </a:endParaRPr>
          </a:p>
        </p:txBody>
      </p:sp>
      <p:sp>
        <p:nvSpPr>
          <p:cNvPr id="457" name="Google Shape;457;p41">
            <a:extLst>
              <a:ext uri="{FF2B5EF4-FFF2-40B4-BE49-F238E27FC236}">
                <a16:creationId xmlns:a16="http://schemas.microsoft.com/office/drawing/2014/main" id="{3F503321-5BCD-4896-9DDE-3E3AA0ACDC05}"/>
              </a:ext>
            </a:extLst>
          </p:cNvPr>
          <p:cNvSpPr txBox="1">
            <a:spLocks noGrp="1"/>
          </p:cNvSpPr>
          <p:nvPr>
            <p:ph type="subTitle" idx="2"/>
          </p:nvPr>
        </p:nvSpPr>
        <p:spPr>
          <a:xfrm>
            <a:off x="499367" y="1025000"/>
            <a:ext cx="3908527" cy="452034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200" dirty="0">
                <a:solidFill>
                  <a:srgbClr val="1C232A"/>
                </a:solidFill>
                <a:latin typeface="Times New Roman" panose="02020603050405020304" pitchFamily="18" charset="0"/>
                <a:cs typeface="Times New Roman" panose="02020603050405020304" pitchFamily="18" charset="0"/>
              </a:rPr>
              <a:t>The project successfully addressed limitations in conventional CLTV(Customer Lifetime Value) estimation by incorporating both demographic and behavioral data, enabling more accurate predictions.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200" dirty="0">
                <a:solidFill>
                  <a:srgbClr val="1C232A"/>
                </a:solidFill>
                <a:latin typeface="Times New Roman" panose="02020603050405020304" pitchFamily="18" charset="0"/>
                <a:cs typeface="Times New Roman" panose="02020603050405020304" pitchFamily="18" charset="0"/>
              </a:rPr>
              <a:t>Models like Random Forest, XGBoost and Decision Tree Regression demonstrated outstanding performance with low error rates and high predictive accuracy, accounting for most of the variation in CLTV. This was affirmed through detailed analysis of evaluation metrics, such as RMSE (</a:t>
            </a:r>
            <a:r>
              <a:rPr lang="en-GB" sz="1200" dirty="0">
                <a:solidFill>
                  <a:srgbClr val="1C232A"/>
                </a:solidFill>
                <a:latin typeface="Times New Roman" panose="02020603050405020304" pitchFamily="18" charset="0"/>
                <a:cs typeface="Times New Roman" panose="02020603050405020304" pitchFamily="18" charset="0"/>
              </a:rPr>
              <a:t>Root Mean Square Error</a:t>
            </a:r>
            <a:r>
              <a:rPr lang="en-US" sz="1200" dirty="0">
                <a:solidFill>
                  <a:srgbClr val="1C232A"/>
                </a:solidFill>
                <a:latin typeface="Times New Roman" panose="02020603050405020304" pitchFamily="18" charset="0"/>
                <a:cs typeface="Times New Roman" panose="02020603050405020304" pitchFamily="18" charset="0"/>
              </a:rPr>
              <a:t>) and R², which showcased the models’ reliability and practicality.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200" dirty="0">
                <a:solidFill>
                  <a:srgbClr val="1C232A"/>
                </a:solidFill>
                <a:latin typeface="Times New Roman" panose="02020603050405020304" pitchFamily="18" charset="0"/>
                <a:cs typeface="Times New Roman" panose="02020603050405020304" pitchFamily="18" charset="0"/>
              </a:rPr>
              <a:t>The comparisons highlighted Random Forest’s superior capability in handling non-linear relationships and dynamic customer behaviors, establishing its utility for businesses aiming to improve customer retention, optimize marketing strategies, and make data-driven decisions with confidence.</a:t>
            </a:r>
          </a:p>
          <a:p>
            <a:pPr marL="285750" indent="-285750">
              <a:lnSpc>
                <a:spcPct val="150000"/>
              </a:lnSpc>
              <a:buFont typeface="Arial" panose="020B0604020202020204" pitchFamily="34" charset="0"/>
              <a:buChar char="•"/>
            </a:pPr>
            <a:endParaRPr lang="en-US" sz="1200" dirty="0">
              <a:solidFill>
                <a:srgbClr val="1C232A"/>
              </a:solidFill>
              <a:latin typeface="Times New Roman" panose="02020603050405020304" pitchFamily="18" charset="0"/>
              <a:cs typeface="Times New Roman" panose="02020603050405020304" pitchFamily="18" charset="0"/>
            </a:endParaRPr>
          </a:p>
        </p:txBody>
      </p:sp>
      <p:grpSp>
        <p:nvGrpSpPr>
          <p:cNvPr id="4" name="Google Shape;314;p31">
            <a:extLst>
              <a:ext uri="{FF2B5EF4-FFF2-40B4-BE49-F238E27FC236}">
                <a16:creationId xmlns:a16="http://schemas.microsoft.com/office/drawing/2014/main" id="{D962A7F1-E9DD-2095-0F34-4D9D2ED3DA94}"/>
              </a:ext>
            </a:extLst>
          </p:cNvPr>
          <p:cNvGrpSpPr/>
          <p:nvPr/>
        </p:nvGrpSpPr>
        <p:grpSpPr>
          <a:xfrm>
            <a:off x="-247298" y="-446215"/>
            <a:ext cx="9638610" cy="6030088"/>
            <a:chOff x="-247298" y="-446215"/>
            <a:chExt cx="9638610" cy="6030088"/>
          </a:xfrm>
        </p:grpSpPr>
        <p:sp>
          <p:nvSpPr>
            <p:cNvPr id="5" name="Google Shape;315;p31">
              <a:extLst>
                <a:ext uri="{FF2B5EF4-FFF2-40B4-BE49-F238E27FC236}">
                  <a16:creationId xmlns:a16="http://schemas.microsoft.com/office/drawing/2014/main" id="{F22840D6-8042-4509-4B5A-BCC603F6472D}"/>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316;p31">
              <a:extLst>
                <a:ext uri="{FF2B5EF4-FFF2-40B4-BE49-F238E27FC236}">
                  <a16:creationId xmlns:a16="http://schemas.microsoft.com/office/drawing/2014/main" id="{4EE6958B-69A9-773E-0698-165DC5B65C11}"/>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Google Shape;317;p31">
              <a:extLst>
                <a:ext uri="{FF2B5EF4-FFF2-40B4-BE49-F238E27FC236}">
                  <a16:creationId xmlns:a16="http://schemas.microsoft.com/office/drawing/2014/main" id="{8BF0463F-EBA6-6077-EA65-A94BBCDDE6C0}"/>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318;p31">
              <a:extLst>
                <a:ext uri="{FF2B5EF4-FFF2-40B4-BE49-F238E27FC236}">
                  <a16:creationId xmlns:a16="http://schemas.microsoft.com/office/drawing/2014/main" id="{52933662-2873-8BF0-190F-252436A66D36}"/>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Google Shape;319;p31">
              <a:extLst>
                <a:ext uri="{FF2B5EF4-FFF2-40B4-BE49-F238E27FC236}">
                  <a16:creationId xmlns:a16="http://schemas.microsoft.com/office/drawing/2014/main" id="{E3663646-399A-23ED-43FE-0D8AA4F95794}"/>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 name="Google Shape;320;p31">
              <a:extLst>
                <a:ext uri="{FF2B5EF4-FFF2-40B4-BE49-F238E27FC236}">
                  <a16:creationId xmlns:a16="http://schemas.microsoft.com/office/drawing/2014/main" id="{2BE233CE-E4C6-8709-9B8A-FF8D3DD87EBE}"/>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 name="Google Shape;321;p31">
              <a:extLst>
                <a:ext uri="{FF2B5EF4-FFF2-40B4-BE49-F238E27FC236}">
                  <a16:creationId xmlns:a16="http://schemas.microsoft.com/office/drawing/2014/main" id="{432D0CA2-DDB8-767C-5225-E8DF96C63FC3}"/>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 name="Google Shape;322;p31">
              <a:extLst>
                <a:ext uri="{FF2B5EF4-FFF2-40B4-BE49-F238E27FC236}">
                  <a16:creationId xmlns:a16="http://schemas.microsoft.com/office/drawing/2014/main" id="{E171F496-6393-4476-B314-D4F5A10F5BD9}"/>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grpSp>
        <p:nvGrpSpPr>
          <p:cNvPr id="3" name="Google Shape;314;p31">
            <a:extLst>
              <a:ext uri="{FF2B5EF4-FFF2-40B4-BE49-F238E27FC236}">
                <a16:creationId xmlns:a16="http://schemas.microsoft.com/office/drawing/2014/main" id="{D2F431F7-D9A9-1C7B-9BB4-E5F72AFD7A40}"/>
              </a:ext>
            </a:extLst>
          </p:cNvPr>
          <p:cNvGrpSpPr/>
          <p:nvPr/>
        </p:nvGrpSpPr>
        <p:grpSpPr>
          <a:xfrm>
            <a:off x="-94898" y="-293815"/>
            <a:ext cx="9638610" cy="6030088"/>
            <a:chOff x="-247298" y="-446215"/>
            <a:chExt cx="9638610" cy="6030088"/>
          </a:xfrm>
        </p:grpSpPr>
        <p:sp>
          <p:nvSpPr>
            <p:cNvPr id="13" name="Google Shape;315;p31">
              <a:extLst>
                <a:ext uri="{FF2B5EF4-FFF2-40B4-BE49-F238E27FC236}">
                  <a16:creationId xmlns:a16="http://schemas.microsoft.com/office/drawing/2014/main" id="{C371753B-1E01-D6E1-D4C8-51354D9F45AB}"/>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4" name="Google Shape;316;p31">
              <a:extLst>
                <a:ext uri="{FF2B5EF4-FFF2-40B4-BE49-F238E27FC236}">
                  <a16:creationId xmlns:a16="http://schemas.microsoft.com/office/drawing/2014/main" id="{08877464-D5FB-CB71-405C-51A3B540BA54}"/>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5" name="Google Shape;317;p31">
              <a:extLst>
                <a:ext uri="{FF2B5EF4-FFF2-40B4-BE49-F238E27FC236}">
                  <a16:creationId xmlns:a16="http://schemas.microsoft.com/office/drawing/2014/main" id="{B166C370-D8B5-9F00-AE08-D91AAC955829}"/>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6" name="Google Shape;318;p31">
              <a:extLst>
                <a:ext uri="{FF2B5EF4-FFF2-40B4-BE49-F238E27FC236}">
                  <a16:creationId xmlns:a16="http://schemas.microsoft.com/office/drawing/2014/main" id="{8124C275-0ED4-068B-EA40-B2B74C826E53}"/>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7" name="Google Shape;319;p31">
              <a:extLst>
                <a:ext uri="{FF2B5EF4-FFF2-40B4-BE49-F238E27FC236}">
                  <a16:creationId xmlns:a16="http://schemas.microsoft.com/office/drawing/2014/main" id="{1C59D168-5FA2-A7CD-1F67-135A88A5B483}"/>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 name="Google Shape;320;p31">
              <a:extLst>
                <a:ext uri="{FF2B5EF4-FFF2-40B4-BE49-F238E27FC236}">
                  <a16:creationId xmlns:a16="http://schemas.microsoft.com/office/drawing/2014/main" id="{C739D5E6-1DB6-CC0E-1788-B46ED728EB15}"/>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 name="Google Shape;321;p31">
              <a:extLst>
                <a:ext uri="{FF2B5EF4-FFF2-40B4-BE49-F238E27FC236}">
                  <a16:creationId xmlns:a16="http://schemas.microsoft.com/office/drawing/2014/main" id="{8B69F850-FAF9-DA31-C001-83DBB15595C8}"/>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 name="Google Shape;322;p31">
              <a:extLst>
                <a:ext uri="{FF2B5EF4-FFF2-40B4-BE49-F238E27FC236}">
                  <a16:creationId xmlns:a16="http://schemas.microsoft.com/office/drawing/2014/main" id="{5AFC35FD-25BC-D749-FB48-C8BAA713CCE8}"/>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pic>
        <p:nvPicPr>
          <p:cNvPr id="2" name="Picture 1">
            <a:extLst>
              <a:ext uri="{FF2B5EF4-FFF2-40B4-BE49-F238E27FC236}">
                <a16:creationId xmlns:a16="http://schemas.microsoft.com/office/drawing/2014/main" id="{673A9BF2-AAAA-4B85-7DB1-45CA73B1645A}"/>
              </a:ext>
            </a:extLst>
          </p:cNvPr>
          <p:cNvPicPr>
            <a:picLocks noChangeAspect="1"/>
          </p:cNvPicPr>
          <p:nvPr/>
        </p:nvPicPr>
        <p:blipFill>
          <a:blip r:embed="rId3"/>
          <a:stretch>
            <a:fillRect/>
          </a:stretch>
        </p:blipFill>
        <p:spPr>
          <a:xfrm>
            <a:off x="4736107" y="1587500"/>
            <a:ext cx="4060920" cy="2267458"/>
          </a:xfrm>
          <a:prstGeom prst="rect">
            <a:avLst/>
          </a:prstGeom>
        </p:spPr>
      </p:pic>
    </p:spTree>
    <p:extLst>
      <p:ext uri="{BB962C8B-B14F-4D97-AF65-F5344CB8AC3E}">
        <p14:creationId xmlns:p14="http://schemas.microsoft.com/office/powerpoint/2010/main" val="410524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D03DC981-2607-E6C2-C2FB-23C1397DD669}"/>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D085EBCE-B1BD-7BE3-AAB9-BD8A8F759D79}"/>
              </a:ext>
            </a:extLst>
          </p:cNvPr>
          <p:cNvSpPr txBox="1">
            <a:spLocks noGrp="1"/>
          </p:cNvSpPr>
          <p:nvPr>
            <p:ph type="title"/>
          </p:nvPr>
        </p:nvSpPr>
        <p:spPr>
          <a:xfrm>
            <a:off x="726767" y="3416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rPr>
              <a:t>Literature Review Insights</a:t>
            </a:r>
            <a:endParaRPr sz="2400" dirty="0">
              <a:solidFill>
                <a:srgbClr val="1C232A"/>
              </a:solidFill>
              <a:latin typeface="Times New Roman" panose="02020603050405020304" pitchFamily="18" charset="0"/>
              <a:cs typeface="Times New Roman" panose="02020603050405020304" pitchFamily="18" charset="0"/>
            </a:endParaRPr>
          </a:p>
        </p:txBody>
      </p:sp>
      <p:sp>
        <p:nvSpPr>
          <p:cNvPr id="457" name="Google Shape;457;p41">
            <a:extLst>
              <a:ext uri="{FF2B5EF4-FFF2-40B4-BE49-F238E27FC236}">
                <a16:creationId xmlns:a16="http://schemas.microsoft.com/office/drawing/2014/main" id="{28BDEBBA-DCBE-1A9C-43DC-F6B3EB47A7AE}"/>
              </a:ext>
            </a:extLst>
          </p:cNvPr>
          <p:cNvSpPr txBox="1">
            <a:spLocks noGrp="1"/>
          </p:cNvSpPr>
          <p:nvPr>
            <p:ph type="subTitle" idx="2"/>
          </p:nvPr>
        </p:nvSpPr>
        <p:spPr>
          <a:xfrm>
            <a:off x="408541" y="1861951"/>
            <a:ext cx="4535599" cy="2096144"/>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sz="1200" b="1" dirty="0">
                <a:solidFill>
                  <a:srgbClr val="1C232A"/>
                </a:solidFill>
                <a:latin typeface="Times New Roman" panose="02020603050405020304" pitchFamily="18" charset="0"/>
                <a:cs typeface="Times New Roman" panose="02020603050405020304" pitchFamily="18" charset="0"/>
              </a:rPr>
              <a:t>Main terms: </a:t>
            </a:r>
            <a:r>
              <a:rPr lang="en-US" sz="1200" dirty="0">
                <a:solidFill>
                  <a:srgbClr val="1C232A"/>
                </a:solidFill>
                <a:latin typeface="Times New Roman" panose="02020603050405020304" pitchFamily="18" charset="0"/>
                <a:cs typeface="Times New Roman" panose="02020603050405020304" pitchFamily="18" charset="0"/>
              </a:rPr>
              <a:t>Importance of Customer Lifetime Value, Customer engagement, and behavior.</a:t>
            </a:r>
          </a:p>
          <a:p>
            <a:pPr marL="285750" indent="-285750">
              <a:lnSpc>
                <a:spcPct val="150000"/>
              </a:lnSpc>
              <a:buFont typeface="Arial" panose="020B0604020202020204" pitchFamily="34" charset="0"/>
              <a:buChar char="•"/>
            </a:pPr>
            <a:r>
              <a:rPr lang="en-US" sz="1200" b="1" dirty="0">
                <a:solidFill>
                  <a:srgbClr val="1C232A"/>
                </a:solidFill>
                <a:latin typeface="Times New Roman" panose="02020603050405020304" pitchFamily="18" charset="0"/>
                <a:cs typeface="Times New Roman" panose="02020603050405020304" pitchFamily="18" charset="0"/>
              </a:rPr>
              <a:t>Gaps: </a:t>
            </a:r>
            <a:r>
              <a:rPr lang="en-US" sz="1200" dirty="0">
                <a:solidFill>
                  <a:srgbClr val="1C232A"/>
                </a:solidFill>
                <a:latin typeface="Times New Roman" panose="02020603050405020304" pitchFamily="18" charset="0"/>
                <a:cs typeface="Times New Roman" panose="02020603050405020304" pitchFamily="18" charset="0"/>
              </a:rPr>
              <a:t>Inconsistent data, limited real-time inputs, limited Machine Learning delivery</a:t>
            </a:r>
          </a:p>
          <a:p>
            <a:pPr marL="285750" indent="-285750">
              <a:lnSpc>
                <a:spcPct val="150000"/>
              </a:lnSpc>
              <a:buFont typeface="Arial" panose="020B0604020202020204" pitchFamily="34" charset="0"/>
              <a:buChar char="•"/>
            </a:pPr>
            <a:r>
              <a:rPr lang="en-US" sz="1200" b="1" dirty="0">
                <a:solidFill>
                  <a:srgbClr val="1C232A"/>
                </a:solidFill>
                <a:latin typeface="Times New Roman" panose="02020603050405020304" pitchFamily="18" charset="0"/>
                <a:cs typeface="Times New Roman" panose="02020603050405020304" pitchFamily="18" charset="0"/>
              </a:rPr>
              <a:t>Trends to watch: </a:t>
            </a:r>
            <a:r>
              <a:rPr lang="en-US" sz="1200" dirty="0">
                <a:solidFill>
                  <a:srgbClr val="1C232A"/>
                </a:solidFill>
                <a:latin typeface="Times New Roman" panose="02020603050405020304" pitchFamily="18" charset="0"/>
                <a:cs typeface="Times New Roman" panose="02020603050405020304" pitchFamily="18" charset="0"/>
              </a:rPr>
              <a:t>RFM(</a:t>
            </a:r>
            <a:r>
              <a:rPr lang="en-GB" sz="1200" dirty="0">
                <a:solidFill>
                  <a:srgbClr val="1C232A"/>
                </a:solidFill>
                <a:latin typeface="Times New Roman" panose="02020603050405020304" pitchFamily="18" charset="0"/>
                <a:cs typeface="Times New Roman" panose="02020603050405020304" pitchFamily="18" charset="0"/>
              </a:rPr>
              <a:t>Recency, Frequency, and Monetary Value</a:t>
            </a:r>
            <a:r>
              <a:rPr lang="en-US" sz="1200" dirty="0">
                <a:solidFill>
                  <a:srgbClr val="1C232A"/>
                </a:solidFill>
                <a:latin typeface="Times New Roman" panose="02020603050405020304" pitchFamily="18" charset="0"/>
                <a:cs typeface="Times New Roman" panose="02020603050405020304" pitchFamily="18" charset="0"/>
              </a:rPr>
              <a:t>), ensemble Machine Learning methods.</a:t>
            </a:r>
          </a:p>
        </p:txBody>
      </p:sp>
      <p:grpSp>
        <p:nvGrpSpPr>
          <p:cNvPr id="4" name="Google Shape;314;p31">
            <a:extLst>
              <a:ext uri="{FF2B5EF4-FFF2-40B4-BE49-F238E27FC236}">
                <a16:creationId xmlns:a16="http://schemas.microsoft.com/office/drawing/2014/main" id="{41418A14-4AAE-EEA8-32E6-3BC499AC0BB3}"/>
              </a:ext>
            </a:extLst>
          </p:cNvPr>
          <p:cNvGrpSpPr/>
          <p:nvPr/>
        </p:nvGrpSpPr>
        <p:grpSpPr>
          <a:xfrm>
            <a:off x="-247298" y="-446215"/>
            <a:ext cx="9638610" cy="6030088"/>
            <a:chOff x="-247298" y="-446215"/>
            <a:chExt cx="9638610" cy="6030088"/>
          </a:xfrm>
        </p:grpSpPr>
        <p:sp>
          <p:nvSpPr>
            <p:cNvPr id="5" name="Google Shape;315;p31">
              <a:extLst>
                <a:ext uri="{FF2B5EF4-FFF2-40B4-BE49-F238E27FC236}">
                  <a16:creationId xmlns:a16="http://schemas.microsoft.com/office/drawing/2014/main" id="{739A3773-3DB0-D948-9F5E-FD813E8602DE}"/>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316;p31">
              <a:extLst>
                <a:ext uri="{FF2B5EF4-FFF2-40B4-BE49-F238E27FC236}">
                  <a16:creationId xmlns:a16="http://schemas.microsoft.com/office/drawing/2014/main" id="{B7B56633-745D-ADA8-F6FB-B693F50BD81C}"/>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Google Shape;317;p31">
              <a:extLst>
                <a:ext uri="{FF2B5EF4-FFF2-40B4-BE49-F238E27FC236}">
                  <a16:creationId xmlns:a16="http://schemas.microsoft.com/office/drawing/2014/main" id="{C754E17F-1F03-BC1B-881C-61BDF8E53D8D}"/>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318;p31">
              <a:extLst>
                <a:ext uri="{FF2B5EF4-FFF2-40B4-BE49-F238E27FC236}">
                  <a16:creationId xmlns:a16="http://schemas.microsoft.com/office/drawing/2014/main" id="{0FC44851-243C-8E27-B94B-E0293B375DBA}"/>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Google Shape;319;p31">
              <a:extLst>
                <a:ext uri="{FF2B5EF4-FFF2-40B4-BE49-F238E27FC236}">
                  <a16:creationId xmlns:a16="http://schemas.microsoft.com/office/drawing/2014/main" id="{C6CDB85E-301B-F38F-3E75-9A2D8C2BA042}"/>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 name="Google Shape;320;p31">
              <a:extLst>
                <a:ext uri="{FF2B5EF4-FFF2-40B4-BE49-F238E27FC236}">
                  <a16:creationId xmlns:a16="http://schemas.microsoft.com/office/drawing/2014/main" id="{1E21BF26-5AEF-6FBC-9442-439617590554}"/>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 name="Google Shape;321;p31">
              <a:extLst>
                <a:ext uri="{FF2B5EF4-FFF2-40B4-BE49-F238E27FC236}">
                  <a16:creationId xmlns:a16="http://schemas.microsoft.com/office/drawing/2014/main" id="{031DE88F-0B4F-609D-9F0F-3984726D2819}"/>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 name="Google Shape;322;p31">
              <a:extLst>
                <a:ext uri="{FF2B5EF4-FFF2-40B4-BE49-F238E27FC236}">
                  <a16:creationId xmlns:a16="http://schemas.microsoft.com/office/drawing/2014/main" id="{D2E019F2-8730-4C44-5443-38DD4C2AB06B}"/>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pic>
        <p:nvPicPr>
          <p:cNvPr id="3" name="Picture 2">
            <a:extLst>
              <a:ext uri="{FF2B5EF4-FFF2-40B4-BE49-F238E27FC236}">
                <a16:creationId xmlns:a16="http://schemas.microsoft.com/office/drawing/2014/main" id="{C026B249-44EF-0FD5-2ED4-C0C4BA46A57E}"/>
              </a:ext>
            </a:extLst>
          </p:cNvPr>
          <p:cNvPicPr>
            <a:picLocks noChangeAspect="1"/>
          </p:cNvPicPr>
          <p:nvPr/>
        </p:nvPicPr>
        <p:blipFill>
          <a:blip r:embed="rId3"/>
          <a:stretch>
            <a:fillRect/>
          </a:stretch>
        </p:blipFill>
        <p:spPr>
          <a:xfrm>
            <a:off x="5070764" y="1861951"/>
            <a:ext cx="3664695" cy="2096144"/>
          </a:xfrm>
          <a:prstGeom prst="rect">
            <a:avLst/>
          </a:prstGeom>
        </p:spPr>
      </p:pic>
    </p:spTree>
    <p:extLst>
      <p:ext uri="{BB962C8B-B14F-4D97-AF65-F5344CB8AC3E}">
        <p14:creationId xmlns:p14="http://schemas.microsoft.com/office/powerpoint/2010/main" val="3544802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3E36D6F5-75D3-1DCF-5D20-C6D5BD3470D0}"/>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198F8BB4-3780-AF4B-F14B-951B7F29CBD2}"/>
              </a:ext>
            </a:extLst>
          </p:cNvPr>
          <p:cNvSpPr txBox="1">
            <a:spLocks noGrp="1"/>
          </p:cNvSpPr>
          <p:nvPr>
            <p:ph type="title"/>
          </p:nvPr>
        </p:nvSpPr>
        <p:spPr>
          <a:xfrm>
            <a:off x="2898082" y="109124"/>
            <a:ext cx="3400924"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cs typeface="Times New Roman" panose="02020603050405020304" pitchFamily="18" charset="0"/>
              </a:rPr>
              <a:t>Algorithms Used</a:t>
            </a:r>
            <a:endParaRPr sz="2400" dirty="0">
              <a:solidFill>
                <a:srgbClr val="1C232A"/>
              </a:solidFill>
              <a:cs typeface="Times New Roman" panose="02020603050405020304" pitchFamily="18" charset="0"/>
            </a:endParaRPr>
          </a:p>
        </p:txBody>
      </p:sp>
      <p:grpSp>
        <p:nvGrpSpPr>
          <p:cNvPr id="4" name="Google Shape;314;p31">
            <a:extLst>
              <a:ext uri="{FF2B5EF4-FFF2-40B4-BE49-F238E27FC236}">
                <a16:creationId xmlns:a16="http://schemas.microsoft.com/office/drawing/2014/main" id="{E6CB0F14-FF4F-68B6-61DD-FB45EAABEBB4}"/>
              </a:ext>
            </a:extLst>
          </p:cNvPr>
          <p:cNvGrpSpPr/>
          <p:nvPr/>
        </p:nvGrpSpPr>
        <p:grpSpPr>
          <a:xfrm>
            <a:off x="-247298" y="-446215"/>
            <a:ext cx="9638610" cy="6030088"/>
            <a:chOff x="-247298" y="-446215"/>
            <a:chExt cx="9638610" cy="6030088"/>
          </a:xfrm>
        </p:grpSpPr>
        <p:sp>
          <p:nvSpPr>
            <p:cNvPr id="5" name="Google Shape;315;p31">
              <a:extLst>
                <a:ext uri="{FF2B5EF4-FFF2-40B4-BE49-F238E27FC236}">
                  <a16:creationId xmlns:a16="http://schemas.microsoft.com/office/drawing/2014/main" id="{97DF64AD-074D-0671-39EB-89F308DAD9F5}"/>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6" name="Google Shape;316;p31">
              <a:extLst>
                <a:ext uri="{FF2B5EF4-FFF2-40B4-BE49-F238E27FC236}">
                  <a16:creationId xmlns:a16="http://schemas.microsoft.com/office/drawing/2014/main" id="{FF664347-7A0C-43FF-C981-18BE900ED193}"/>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7" name="Google Shape;317;p31">
              <a:extLst>
                <a:ext uri="{FF2B5EF4-FFF2-40B4-BE49-F238E27FC236}">
                  <a16:creationId xmlns:a16="http://schemas.microsoft.com/office/drawing/2014/main" id="{AC4920B6-1DC0-BCB4-E5B1-F014184DB303}"/>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8" name="Google Shape;318;p31">
              <a:extLst>
                <a:ext uri="{FF2B5EF4-FFF2-40B4-BE49-F238E27FC236}">
                  <a16:creationId xmlns:a16="http://schemas.microsoft.com/office/drawing/2014/main" id="{D5326222-00C3-5B16-1E7C-6FA0C978664E}"/>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9" name="Google Shape;319;p31">
              <a:extLst>
                <a:ext uri="{FF2B5EF4-FFF2-40B4-BE49-F238E27FC236}">
                  <a16:creationId xmlns:a16="http://schemas.microsoft.com/office/drawing/2014/main" id="{E3BA8275-BB84-5F8C-47A5-5C7BDAF45C1A}"/>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0" name="Google Shape;320;p31">
              <a:extLst>
                <a:ext uri="{FF2B5EF4-FFF2-40B4-BE49-F238E27FC236}">
                  <a16:creationId xmlns:a16="http://schemas.microsoft.com/office/drawing/2014/main" id="{3BBC3D03-1C17-FAAA-1478-81E74BEF66FF}"/>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1" name="Google Shape;321;p31">
              <a:extLst>
                <a:ext uri="{FF2B5EF4-FFF2-40B4-BE49-F238E27FC236}">
                  <a16:creationId xmlns:a16="http://schemas.microsoft.com/office/drawing/2014/main" id="{CD3B51B6-CF8D-5011-FCF7-5F393A2AC5E5}"/>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2" name="Google Shape;322;p31">
              <a:extLst>
                <a:ext uri="{FF2B5EF4-FFF2-40B4-BE49-F238E27FC236}">
                  <a16:creationId xmlns:a16="http://schemas.microsoft.com/office/drawing/2014/main" id="{44E4F59E-6EC1-F06A-C46C-E0B2F8D75012}"/>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grpSp>
      <p:sp>
        <p:nvSpPr>
          <p:cNvPr id="2" name="Rectangle: Rounded Corners 1">
            <a:extLst>
              <a:ext uri="{FF2B5EF4-FFF2-40B4-BE49-F238E27FC236}">
                <a16:creationId xmlns:a16="http://schemas.microsoft.com/office/drawing/2014/main" id="{7CFD22C3-2B26-E85D-3D0A-43A269516267}"/>
              </a:ext>
            </a:extLst>
          </p:cNvPr>
          <p:cNvSpPr/>
          <p:nvPr/>
        </p:nvSpPr>
        <p:spPr>
          <a:xfrm>
            <a:off x="766322" y="789913"/>
            <a:ext cx="2070000" cy="1877786"/>
          </a:xfrm>
          <a:prstGeom prst="roundRect">
            <a:avLst/>
          </a:prstGeom>
          <a:ln>
            <a:noFill/>
          </a:ln>
          <a:effectLst>
            <a:glow rad="63500">
              <a:schemeClr val="accent2">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GB" sz="1200" b="1" dirty="0">
                <a:solidFill>
                  <a:srgbClr val="1C232A"/>
                </a:solidFill>
                <a:latin typeface="Times New Roman" panose="02020603050405020304" pitchFamily="18" charset="0"/>
                <a:cs typeface="Times New Roman" panose="02020603050405020304" pitchFamily="18" charset="0"/>
              </a:rPr>
              <a:t>Linear Regression</a:t>
            </a:r>
          </a:p>
          <a:p>
            <a:pPr algn="ctr"/>
            <a:endParaRPr lang="en-GB" sz="1200" b="1" dirty="0">
              <a:ln w="0"/>
              <a:solidFill>
                <a:srgbClr val="1C232A"/>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r>
              <a:rPr lang="en-GB" sz="1200" dirty="0">
                <a:solidFill>
                  <a:srgbClr val="1C232A"/>
                </a:solidFill>
                <a:latin typeface="Times New Roman" panose="02020603050405020304" pitchFamily="18" charset="0"/>
                <a:cs typeface="Times New Roman" panose="02020603050405020304" pitchFamily="18" charset="0"/>
              </a:rPr>
              <a:t>Simple and interpretable, making it a good baseline model for predicting Customer Lifetime Value with linear relationships.</a:t>
            </a:r>
          </a:p>
          <a:p>
            <a:pPr algn="ctr"/>
            <a:r>
              <a:rPr lang="en-GB" sz="1200" dirty="0">
                <a:solidFill>
                  <a:srgbClr val="1C232A"/>
                </a:solidFill>
                <a:latin typeface="Times New Roman" panose="02020603050405020304" pitchFamily="18" charset="0"/>
                <a:cs typeface="Times New Roman" panose="02020603050405020304" pitchFamily="18" charset="0"/>
              </a:rPr>
              <a:t>                                                        </a:t>
            </a:r>
          </a:p>
        </p:txBody>
      </p:sp>
      <p:sp>
        <p:nvSpPr>
          <p:cNvPr id="14" name="Rectangle: Rounded Corners 13">
            <a:extLst>
              <a:ext uri="{FF2B5EF4-FFF2-40B4-BE49-F238E27FC236}">
                <a16:creationId xmlns:a16="http://schemas.microsoft.com/office/drawing/2014/main" id="{6F55159D-BAD3-F02D-C40E-7CF4FC31E49C}"/>
              </a:ext>
            </a:extLst>
          </p:cNvPr>
          <p:cNvSpPr/>
          <p:nvPr/>
        </p:nvSpPr>
        <p:spPr>
          <a:xfrm>
            <a:off x="6360767" y="698425"/>
            <a:ext cx="2070000" cy="18792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1200" b="1" dirty="0">
                <a:solidFill>
                  <a:srgbClr val="1C232A"/>
                </a:solidFill>
                <a:latin typeface="Times New Roman" panose="02020603050405020304" pitchFamily="18" charset="0"/>
                <a:cs typeface="Times New Roman" panose="02020603050405020304" pitchFamily="18" charset="0"/>
              </a:rPr>
              <a:t>Decision Tree Regressor</a:t>
            </a:r>
          </a:p>
          <a:p>
            <a:pPr algn="ctr"/>
            <a:endParaRPr lang="en-GB" sz="1200" b="1" dirty="0">
              <a:solidFill>
                <a:srgbClr val="1C232A"/>
              </a:solidFill>
              <a:latin typeface="Times New Roman" panose="02020603050405020304" pitchFamily="18" charset="0"/>
              <a:cs typeface="Times New Roman" panose="02020603050405020304" pitchFamily="18" charset="0"/>
            </a:endParaRPr>
          </a:p>
          <a:p>
            <a:pPr algn="ctr"/>
            <a:r>
              <a:rPr lang="en-GB" sz="1200" dirty="0">
                <a:solidFill>
                  <a:srgbClr val="1C232A"/>
                </a:solidFill>
                <a:latin typeface="Times New Roman" panose="02020603050405020304" pitchFamily="18" charset="0"/>
                <a:cs typeface="Times New Roman" panose="02020603050405020304" pitchFamily="18" charset="0"/>
              </a:rPr>
              <a:t>Captures non-linear patterns and interactions in the data, offering flexibility for more complex relationships in Customer Lifetime Value prediction.</a:t>
            </a:r>
          </a:p>
        </p:txBody>
      </p:sp>
      <p:sp>
        <p:nvSpPr>
          <p:cNvPr id="15" name="Rectangle: Rounded Corners 14">
            <a:extLst>
              <a:ext uri="{FF2B5EF4-FFF2-40B4-BE49-F238E27FC236}">
                <a16:creationId xmlns:a16="http://schemas.microsoft.com/office/drawing/2014/main" id="{C85DE567-6CA6-D684-2EFF-229D0778771B}"/>
              </a:ext>
            </a:extLst>
          </p:cNvPr>
          <p:cNvSpPr/>
          <p:nvPr/>
        </p:nvSpPr>
        <p:spPr>
          <a:xfrm>
            <a:off x="3563544" y="1638025"/>
            <a:ext cx="2070000" cy="187778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b="1" dirty="0">
                <a:solidFill>
                  <a:srgbClr val="1C232A"/>
                </a:solidFill>
                <a:latin typeface="Times New Roman" panose="02020603050405020304" pitchFamily="18" charset="0"/>
                <a:cs typeface="Times New Roman" panose="02020603050405020304" pitchFamily="18" charset="0"/>
              </a:rPr>
              <a:t>Random Forest</a:t>
            </a:r>
          </a:p>
          <a:p>
            <a:pPr algn="ctr"/>
            <a:endParaRPr lang="en-US" sz="1200" b="1" dirty="0">
              <a:solidFill>
                <a:srgbClr val="1C232A"/>
              </a:solidFill>
              <a:latin typeface="Times New Roman" panose="02020603050405020304" pitchFamily="18" charset="0"/>
              <a:cs typeface="Times New Roman" panose="02020603050405020304" pitchFamily="18" charset="0"/>
            </a:endParaRPr>
          </a:p>
          <a:p>
            <a:pPr algn="ctr"/>
            <a:r>
              <a:rPr lang="en-GB" sz="1200" dirty="0">
                <a:solidFill>
                  <a:srgbClr val="1C232A"/>
                </a:solidFill>
                <a:latin typeface="Times New Roman" panose="02020603050405020304" pitchFamily="18" charset="0"/>
                <a:cs typeface="Times New Roman" panose="02020603050405020304" pitchFamily="18" charset="0"/>
              </a:rPr>
              <a:t>Combines multiple decision trees to reduce overfitting, providing robust predictions with improved accuracy and stability.</a:t>
            </a:r>
          </a:p>
        </p:txBody>
      </p:sp>
      <p:sp>
        <p:nvSpPr>
          <p:cNvPr id="16" name="Rectangle: Rounded Corners 15">
            <a:extLst>
              <a:ext uri="{FF2B5EF4-FFF2-40B4-BE49-F238E27FC236}">
                <a16:creationId xmlns:a16="http://schemas.microsoft.com/office/drawing/2014/main" id="{3EF70CBE-DB33-939A-261C-3CD96324BAE1}"/>
              </a:ext>
            </a:extLst>
          </p:cNvPr>
          <p:cNvSpPr/>
          <p:nvPr/>
        </p:nvSpPr>
        <p:spPr>
          <a:xfrm>
            <a:off x="850964" y="3180335"/>
            <a:ext cx="2070000" cy="18792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1200" b="1" dirty="0">
                <a:solidFill>
                  <a:srgbClr val="1C232A"/>
                </a:solidFill>
                <a:latin typeface="Times New Roman" panose="02020603050405020304" pitchFamily="18" charset="0"/>
                <a:cs typeface="Times New Roman" panose="02020603050405020304" pitchFamily="18" charset="0"/>
              </a:rPr>
              <a:t>AdaBoost </a:t>
            </a:r>
          </a:p>
          <a:p>
            <a:pPr algn="ctr"/>
            <a:r>
              <a:rPr lang="en-GB" sz="1200" b="1" dirty="0">
                <a:solidFill>
                  <a:srgbClr val="1C232A"/>
                </a:solidFill>
                <a:latin typeface="Times New Roman" panose="02020603050405020304" pitchFamily="18" charset="0"/>
                <a:cs typeface="Times New Roman" panose="02020603050405020304" pitchFamily="18" charset="0"/>
              </a:rPr>
              <a:t>Regressor</a:t>
            </a:r>
          </a:p>
          <a:p>
            <a:pPr algn="ctr"/>
            <a:endParaRPr lang="en-GB" sz="1200" b="1" dirty="0">
              <a:solidFill>
                <a:srgbClr val="1C232A"/>
              </a:solidFill>
              <a:latin typeface="Times New Roman" panose="02020603050405020304" pitchFamily="18" charset="0"/>
              <a:cs typeface="Times New Roman" panose="02020603050405020304" pitchFamily="18" charset="0"/>
            </a:endParaRPr>
          </a:p>
          <a:p>
            <a:pPr algn="ctr"/>
            <a:r>
              <a:rPr lang="en-GB" sz="1200" dirty="0">
                <a:solidFill>
                  <a:srgbClr val="1C232A"/>
                </a:solidFill>
                <a:latin typeface="Times New Roman" panose="02020603050405020304" pitchFamily="18" charset="0"/>
                <a:cs typeface="Times New Roman" panose="02020603050405020304" pitchFamily="18" charset="0"/>
              </a:rPr>
              <a:t>Focuses on improving weak models, boosting performance by reducing bias and handling noisy data well in Customer Lifetime Value prediction.</a:t>
            </a:r>
          </a:p>
        </p:txBody>
      </p:sp>
      <p:sp>
        <p:nvSpPr>
          <p:cNvPr id="17" name="Rectangle: Rounded Corners 16">
            <a:extLst>
              <a:ext uri="{FF2B5EF4-FFF2-40B4-BE49-F238E27FC236}">
                <a16:creationId xmlns:a16="http://schemas.microsoft.com/office/drawing/2014/main" id="{479FCB11-790E-C857-263C-870FA7AF5111}"/>
              </a:ext>
            </a:extLst>
          </p:cNvPr>
          <p:cNvSpPr/>
          <p:nvPr/>
        </p:nvSpPr>
        <p:spPr>
          <a:xfrm>
            <a:off x="6223037" y="3155176"/>
            <a:ext cx="2070000" cy="1879200"/>
          </a:xfrm>
          <a:prstGeom prst="round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1200" b="1" dirty="0">
                <a:solidFill>
                  <a:srgbClr val="1C232A"/>
                </a:solidFill>
                <a:latin typeface="Times New Roman" panose="02020603050405020304" pitchFamily="18" charset="0"/>
                <a:cs typeface="Times New Roman" panose="02020603050405020304" pitchFamily="18" charset="0"/>
              </a:rPr>
              <a:t>XGBoost Regressor</a:t>
            </a:r>
          </a:p>
          <a:p>
            <a:pPr algn="ctr"/>
            <a:endParaRPr lang="en-GB" sz="1200" b="1" dirty="0">
              <a:solidFill>
                <a:srgbClr val="1C232A"/>
              </a:solidFill>
              <a:latin typeface="Times New Roman" panose="02020603050405020304" pitchFamily="18" charset="0"/>
              <a:cs typeface="Times New Roman" panose="02020603050405020304" pitchFamily="18" charset="0"/>
            </a:endParaRPr>
          </a:p>
          <a:p>
            <a:pPr algn="ctr"/>
            <a:r>
              <a:rPr lang="en-GB" sz="1200" dirty="0">
                <a:solidFill>
                  <a:srgbClr val="1C232A"/>
                </a:solidFill>
                <a:latin typeface="Times New Roman" panose="02020603050405020304" pitchFamily="18" charset="0"/>
                <a:cs typeface="Times New Roman" panose="02020603050405020304" pitchFamily="18" charset="0"/>
              </a:rPr>
              <a:t>A highly efficient gradient boosting algorithm that optimizes both bias and variance, often delivering state-of-the-art performance for Customer Lifetime Value predictions.</a:t>
            </a:r>
          </a:p>
        </p:txBody>
      </p:sp>
    </p:spTree>
    <p:extLst>
      <p:ext uri="{BB962C8B-B14F-4D97-AF65-F5344CB8AC3E}">
        <p14:creationId xmlns:p14="http://schemas.microsoft.com/office/powerpoint/2010/main" val="1254256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00587946-697D-15C0-0430-725624FF1B46}"/>
            </a:ext>
          </a:extLst>
        </p:cNvPr>
        <p:cNvGrpSpPr/>
        <p:nvPr/>
      </p:nvGrpSpPr>
      <p:grpSpPr>
        <a:xfrm>
          <a:off x="0" y="0"/>
          <a:ext cx="0" cy="0"/>
          <a:chOff x="0" y="0"/>
          <a:chExt cx="0" cy="0"/>
        </a:xfrm>
      </p:grpSpPr>
      <p:grpSp>
        <p:nvGrpSpPr>
          <p:cNvPr id="10" name="Google Shape;314;p31">
            <a:extLst>
              <a:ext uri="{FF2B5EF4-FFF2-40B4-BE49-F238E27FC236}">
                <a16:creationId xmlns:a16="http://schemas.microsoft.com/office/drawing/2014/main" id="{E26108DA-BB49-F4E4-8A38-ACD27D7F29BB}"/>
              </a:ext>
            </a:extLst>
          </p:cNvPr>
          <p:cNvGrpSpPr/>
          <p:nvPr/>
        </p:nvGrpSpPr>
        <p:grpSpPr>
          <a:xfrm>
            <a:off x="-247298" y="-446215"/>
            <a:ext cx="9638610" cy="1463938"/>
            <a:chOff x="-247298" y="-446215"/>
            <a:chExt cx="9638610" cy="1463938"/>
          </a:xfrm>
        </p:grpSpPr>
        <p:sp>
          <p:nvSpPr>
            <p:cNvPr id="13" name="Google Shape;317;p31">
              <a:extLst>
                <a:ext uri="{FF2B5EF4-FFF2-40B4-BE49-F238E27FC236}">
                  <a16:creationId xmlns:a16="http://schemas.microsoft.com/office/drawing/2014/main" id="{8A668E28-8021-9727-6097-5B66C39D5422}"/>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4" name="Google Shape;318;p31">
              <a:extLst>
                <a:ext uri="{FF2B5EF4-FFF2-40B4-BE49-F238E27FC236}">
                  <a16:creationId xmlns:a16="http://schemas.microsoft.com/office/drawing/2014/main" id="{3D5DB1B7-7E41-27A1-82C9-152084C42CCE}"/>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5" name="Google Shape;319;p31">
              <a:extLst>
                <a:ext uri="{FF2B5EF4-FFF2-40B4-BE49-F238E27FC236}">
                  <a16:creationId xmlns:a16="http://schemas.microsoft.com/office/drawing/2014/main" id="{E8EDC586-C9A7-4E28-CF72-A3238B110871}"/>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6" name="Google Shape;320;p31">
              <a:extLst>
                <a:ext uri="{FF2B5EF4-FFF2-40B4-BE49-F238E27FC236}">
                  <a16:creationId xmlns:a16="http://schemas.microsoft.com/office/drawing/2014/main" id="{9007ACA4-CD4F-AC23-31D5-158FBEA070A5}"/>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1C232A"/>
                </a:solidFill>
              </a:endParaRPr>
            </a:p>
          </p:txBody>
        </p:sp>
      </p:grpSp>
      <p:sp>
        <p:nvSpPr>
          <p:cNvPr id="455" name="Google Shape;455;p41">
            <a:extLst>
              <a:ext uri="{FF2B5EF4-FFF2-40B4-BE49-F238E27FC236}">
                <a16:creationId xmlns:a16="http://schemas.microsoft.com/office/drawing/2014/main" id="{28955C3F-AA08-E7DA-A14B-5A6A1C69E32C}"/>
              </a:ext>
            </a:extLst>
          </p:cNvPr>
          <p:cNvSpPr txBox="1">
            <a:spLocks noGrp="1"/>
          </p:cNvSpPr>
          <p:nvPr>
            <p:ph type="title"/>
          </p:nvPr>
        </p:nvSpPr>
        <p:spPr>
          <a:xfrm>
            <a:off x="1344828" y="249023"/>
            <a:ext cx="6742157" cy="25028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cs typeface="Times New Roman" panose="02020603050405020304" pitchFamily="18" charset="0"/>
              </a:rPr>
              <a:t>Model Performance Comparison</a:t>
            </a:r>
            <a:endParaRPr sz="2400" dirty="0">
              <a:solidFill>
                <a:srgbClr val="1C232A"/>
              </a:solidFill>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9F907B9-8E4A-C26E-7671-1FC91AC699E0}"/>
              </a:ext>
            </a:extLst>
          </p:cNvPr>
          <p:cNvGraphicFramePr>
            <a:graphicFrameLocks noGrp="1"/>
          </p:cNvGraphicFramePr>
          <p:nvPr>
            <p:extLst>
              <p:ext uri="{D42A27DB-BD31-4B8C-83A1-F6EECF244321}">
                <p14:modId xmlns:p14="http://schemas.microsoft.com/office/powerpoint/2010/main" val="864084968"/>
              </p:ext>
            </p:extLst>
          </p:nvPr>
        </p:nvGraphicFramePr>
        <p:xfrm>
          <a:off x="152400" y="1199552"/>
          <a:ext cx="4605868" cy="3778848"/>
        </p:xfrm>
        <a:graphic>
          <a:graphicData uri="http://schemas.openxmlformats.org/drawingml/2006/table">
            <a:tbl>
              <a:tblPr firstRow="1" firstCol="1" bandRow="1"/>
              <a:tblGrid>
                <a:gridCol w="1339910">
                  <a:extLst>
                    <a:ext uri="{9D8B030D-6E8A-4147-A177-3AD203B41FA5}">
                      <a16:colId xmlns:a16="http://schemas.microsoft.com/office/drawing/2014/main" val="214854259"/>
                    </a:ext>
                  </a:extLst>
                </a:gridCol>
                <a:gridCol w="1046497">
                  <a:extLst>
                    <a:ext uri="{9D8B030D-6E8A-4147-A177-3AD203B41FA5}">
                      <a16:colId xmlns:a16="http://schemas.microsoft.com/office/drawing/2014/main" val="3426593381"/>
                    </a:ext>
                  </a:extLst>
                </a:gridCol>
                <a:gridCol w="482369">
                  <a:extLst>
                    <a:ext uri="{9D8B030D-6E8A-4147-A177-3AD203B41FA5}">
                      <a16:colId xmlns:a16="http://schemas.microsoft.com/office/drawing/2014/main" val="386255279"/>
                    </a:ext>
                  </a:extLst>
                </a:gridCol>
                <a:gridCol w="865475">
                  <a:extLst>
                    <a:ext uri="{9D8B030D-6E8A-4147-A177-3AD203B41FA5}">
                      <a16:colId xmlns:a16="http://schemas.microsoft.com/office/drawing/2014/main" val="1241347850"/>
                    </a:ext>
                  </a:extLst>
                </a:gridCol>
                <a:gridCol w="871617">
                  <a:extLst>
                    <a:ext uri="{9D8B030D-6E8A-4147-A177-3AD203B41FA5}">
                      <a16:colId xmlns:a16="http://schemas.microsoft.com/office/drawing/2014/main" val="4271304093"/>
                    </a:ext>
                  </a:extLst>
                </a:gridCol>
              </a:tblGrid>
              <a:tr h="1213502">
                <a:tc>
                  <a:txBody>
                    <a:bodyPr/>
                    <a:lstStyle/>
                    <a:p>
                      <a:pPr algn="ctr">
                        <a:lnSpc>
                          <a:spcPct val="150000"/>
                        </a:lnSpc>
                        <a:spcBef>
                          <a:spcPts val="600"/>
                        </a:spcBef>
                        <a:spcAft>
                          <a:spcPts val="800"/>
                        </a:spcAft>
                      </a:pPr>
                      <a:r>
                        <a:rPr lang="en-GB" sz="1200" b="1" dirty="0">
                          <a:solidFill>
                            <a:srgbClr val="000000"/>
                          </a:solidFill>
                          <a:effectLst/>
                          <a:latin typeface="Times New Roman" panose="02020603050405020304" pitchFamily="18" charset="0"/>
                          <a:ea typeface="Calibri" panose="020F0502020204030204" pitchFamily="34" charset="0"/>
                        </a:rPr>
                        <a:t>Model</a:t>
                      </a:r>
                      <a:endParaRPr lang="en-IN" sz="12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Root mean squared error</a:t>
                      </a:r>
                      <a:b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b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(RMSE)</a:t>
                      </a:r>
                      <a:endParaRPr lang="en-IN"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1" dirty="0">
                          <a:solidFill>
                            <a:srgbClr val="000000"/>
                          </a:solidFill>
                          <a:effectLst/>
                          <a:latin typeface="Times New Roman" panose="02020603050405020304" pitchFamily="18" charset="0"/>
                          <a:ea typeface="Calibri" panose="020F0502020204030204" pitchFamily="34" charset="0"/>
                        </a:rPr>
                        <a:t>R</a:t>
                      </a:r>
                      <a:r>
                        <a:rPr lang="en-GB" sz="1200" b="1" baseline="30000" dirty="0">
                          <a:solidFill>
                            <a:srgbClr val="000000"/>
                          </a:solidFill>
                          <a:effectLst/>
                          <a:latin typeface="Times New Roman" panose="02020603050405020304" pitchFamily="18" charset="0"/>
                          <a:ea typeface="Calibri" panose="020F0502020204030204" pitchFamily="34" charset="0"/>
                        </a:rPr>
                        <a:t>2</a:t>
                      </a:r>
                      <a:endParaRPr lang="en-IN" sz="1200" baseline="30000" dirty="0">
                        <a:solidFill>
                          <a:srgbClr val="000000"/>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Mean absolute error</a:t>
                      </a:r>
                      <a:b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b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(MAE)</a:t>
                      </a:r>
                      <a:endParaRPr lang="en-IN"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Mean squared error</a:t>
                      </a:r>
                      <a:b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br>
                      <a:r>
                        <a:rPr lang="en-GB"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rPr>
                        <a:t>(MSE)</a:t>
                      </a:r>
                      <a:endParaRPr lang="en-IN" sz="1200" b="1" i="0" u="none" strike="noStrike" cap="none" dirty="0">
                        <a:solidFill>
                          <a:srgbClr val="000000"/>
                        </a:solidFill>
                        <a:effectLst/>
                        <a:latin typeface="Times New Roman" panose="02020603050405020304" pitchFamily="18" charset="0"/>
                        <a:ea typeface="Calibri" panose="020F0502020204030204" pitchFamily="34" charset="0"/>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2653044"/>
                  </a:ext>
                </a:extLst>
              </a:tr>
              <a:tr h="588001">
                <a:tc>
                  <a:txBody>
                    <a:bodyPr/>
                    <a:lstStyle/>
                    <a:p>
                      <a:pPr algn="ctr">
                        <a:lnSpc>
                          <a:spcPct val="150000"/>
                        </a:lnSpc>
                        <a:spcBef>
                          <a:spcPts val="600"/>
                        </a:spcBef>
                        <a:spcAft>
                          <a:spcPts val="800"/>
                        </a:spcAft>
                      </a:pPr>
                      <a:r>
                        <a:rPr lang="en-GB"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Linear Regression</a:t>
                      </a:r>
                      <a:endPar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33732.76</a:t>
                      </a:r>
                      <a:endParaRPr lang="en-IN"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0.85</a:t>
                      </a:r>
                      <a:endParaRPr lang="en-IN"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23619.33</a:t>
                      </a:r>
                      <a:endParaRPr lang="en-IN"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1137899557.54</a:t>
                      </a:r>
                      <a:endPar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2242509"/>
                  </a:ext>
                </a:extLst>
              </a:tr>
              <a:tr h="275250">
                <a:tc>
                  <a:txBody>
                    <a:bodyPr/>
                    <a:lstStyle/>
                    <a:p>
                      <a:pPr algn="ctr">
                        <a:lnSpc>
                          <a:spcPct val="150000"/>
                        </a:lnSpc>
                        <a:spcBef>
                          <a:spcPts val="600"/>
                        </a:spcBef>
                        <a:spcAft>
                          <a:spcPts val="8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 Forest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50.10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600"/>
                        </a:spcBef>
                        <a:spcAft>
                          <a:spcPts val="800"/>
                        </a:spcAft>
                        <a:buClr>
                          <a:srgbClr val="000000"/>
                        </a:buClr>
                        <a:buSzTx/>
                        <a:buFont typeface="Arial"/>
                        <a:buNone/>
                        <a:tabLst/>
                        <a:defRPr/>
                      </a:pPr>
                      <a:r>
                        <a:rPr lang="en-GB" sz="1200" dirty="0">
                          <a:solidFill>
                            <a:schemeClr val="tx1">
                              <a:lumMod val="50000"/>
                            </a:schemeClr>
                          </a:solidFill>
                          <a:effectLst/>
                          <a:latin typeface="Times New Roman" panose="02020603050405020304" pitchFamily="18" charset="0"/>
                          <a:cs typeface="Times New Roman" panose="02020603050405020304" pitchFamily="18" charset="0"/>
                        </a:rPr>
                        <a:t>0.99</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5.31</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2510.77</a:t>
                      </a:r>
                      <a:endPar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255047"/>
                  </a:ext>
                </a:extLst>
              </a:tr>
              <a:tr h="588001">
                <a:tc>
                  <a:txBody>
                    <a:bodyPr/>
                    <a:lstStyle/>
                    <a:p>
                      <a:pPr algn="ctr">
                        <a:lnSpc>
                          <a:spcPct val="150000"/>
                        </a:lnSpc>
                        <a:spcBef>
                          <a:spcPts val="600"/>
                        </a:spcBef>
                        <a:spcAft>
                          <a:spcPts val="8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Decision Tree Regressor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306.40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600"/>
                        </a:spcBef>
                        <a:spcAft>
                          <a:spcPts val="800"/>
                        </a:spcAft>
                        <a:buClr>
                          <a:srgbClr val="000000"/>
                        </a:buClr>
                        <a:buSzTx/>
                        <a:buFont typeface="Arial"/>
                        <a:buNone/>
                        <a:tabLst/>
                        <a:defRPr/>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0.99</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95.52</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93886.27</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3234581"/>
                  </a:ext>
                </a:extLst>
              </a:tr>
              <a:tr h="588001">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AdaBoost Regressor</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12117.86</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600"/>
                        </a:spcBef>
                        <a:spcAft>
                          <a:spcPts val="800"/>
                        </a:spcAft>
                        <a:buClr>
                          <a:srgbClr val="000000"/>
                        </a:buClr>
                        <a:buSzTx/>
                        <a:buFont typeface="Arial"/>
                        <a:buNone/>
                        <a:tabLst/>
                        <a:defRPr/>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0.98</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8116.48</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146842709.33</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7687614"/>
                  </a:ext>
                </a:extLst>
              </a:tr>
              <a:tr h="526093">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XGBoost Regressor</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3059.94</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600"/>
                        </a:spcBef>
                        <a:spcAft>
                          <a:spcPts val="800"/>
                        </a:spcAft>
                        <a:buClr>
                          <a:srgbClr val="000000"/>
                        </a:buClr>
                        <a:buSzTx/>
                        <a:buFont typeface="Arial"/>
                        <a:buNone/>
                        <a:tabLst/>
                        <a:defRPr/>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0.99</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b="0" i="0" u="none" strike="noStrike" cap="none" dirty="0">
                          <a:solidFill>
                            <a:schemeClr val="tx1">
                              <a:lumMod val="50000"/>
                            </a:schemeClr>
                          </a:solidFill>
                          <a:effectLst/>
                          <a:latin typeface="Times New Roman" panose="02020603050405020304" pitchFamily="18" charset="0"/>
                          <a:ea typeface="+mn-ea"/>
                          <a:cs typeface="Times New Roman" panose="02020603050405020304" pitchFamily="18" charset="0"/>
                          <a:sym typeface="Arial"/>
                        </a:rPr>
                        <a:t>670.75</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800"/>
                        </a:spcAft>
                      </a:pPr>
                      <a:r>
                        <a:rPr lang="en-GB"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9363271.57</a:t>
                      </a:r>
                      <a:endParaRPr lang="en-IN" sz="12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8522877"/>
                  </a:ext>
                </a:extLst>
              </a:tr>
            </a:tbl>
          </a:graphicData>
        </a:graphic>
      </p:graphicFrame>
      <p:pic>
        <p:nvPicPr>
          <p:cNvPr id="2" name="Picture 1">
            <a:extLst>
              <a:ext uri="{FF2B5EF4-FFF2-40B4-BE49-F238E27FC236}">
                <a16:creationId xmlns:a16="http://schemas.microsoft.com/office/drawing/2014/main" id="{8904CF13-98A9-B395-73E5-25FAD8FFC057}"/>
              </a:ext>
            </a:extLst>
          </p:cNvPr>
          <p:cNvPicPr>
            <a:picLocks noChangeAspect="1"/>
          </p:cNvPicPr>
          <p:nvPr/>
        </p:nvPicPr>
        <p:blipFill>
          <a:blip r:embed="rId3"/>
          <a:stretch>
            <a:fillRect/>
          </a:stretch>
        </p:blipFill>
        <p:spPr>
          <a:xfrm>
            <a:off x="5012267" y="1013250"/>
            <a:ext cx="3895324" cy="1878342"/>
          </a:xfrm>
          <a:prstGeom prst="rect">
            <a:avLst/>
          </a:prstGeom>
        </p:spPr>
      </p:pic>
      <p:pic>
        <p:nvPicPr>
          <p:cNvPr id="4" name="Picture 3">
            <a:extLst>
              <a:ext uri="{FF2B5EF4-FFF2-40B4-BE49-F238E27FC236}">
                <a16:creationId xmlns:a16="http://schemas.microsoft.com/office/drawing/2014/main" id="{960CBD77-91E4-DB40-0300-9BC1D448EAE0}"/>
              </a:ext>
            </a:extLst>
          </p:cNvPr>
          <p:cNvPicPr>
            <a:picLocks noChangeAspect="1"/>
          </p:cNvPicPr>
          <p:nvPr/>
        </p:nvPicPr>
        <p:blipFill>
          <a:blip r:embed="rId4"/>
          <a:stretch>
            <a:fillRect/>
          </a:stretch>
        </p:blipFill>
        <p:spPr>
          <a:xfrm>
            <a:off x="5012268" y="2883850"/>
            <a:ext cx="3895324" cy="2259650"/>
          </a:xfrm>
          <a:prstGeom prst="rect">
            <a:avLst/>
          </a:prstGeom>
        </p:spPr>
      </p:pic>
    </p:spTree>
    <p:extLst>
      <p:ext uri="{BB962C8B-B14F-4D97-AF65-F5344CB8AC3E}">
        <p14:creationId xmlns:p14="http://schemas.microsoft.com/office/powerpoint/2010/main" val="303730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D7CA2F37-5F52-715D-6841-247D890D9F3F}"/>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91F5C973-60DF-4F22-C2F8-BB18F4D82173}"/>
              </a:ext>
            </a:extLst>
          </p:cNvPr>
          <p:cNvSpPr txBox="1">
            <a:spLocks noGrp="1"/>
          </p:cNvSpPr>
          <p:nvPr>
            <p:ph type="title"/>
          </p:nvPr>
        </p:nvSpPr>
        <p:spPr>
          <a:xfrm>
            <a:off x="726767" y="15803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t>Business Implications</a:t>
            </a:r>
            <a:endParaRPr sz="2400" dirty="0">
              <a:latin typeface="Times New Roman" panose="02020603050405020304" pitchFamily="18" charset="0"/>
              <a:cs typeface="Times New Roman" panose="02020603050405020304" pitchFamily="18" charset="0"/>
            </a:endParaRPr>
          </a:p>
        </p:txBody>
      </p:sp>
      <p:sp>
        <p:nvSpPr>
          <p:cNvPr id="457" name="Google Shape;457;p41">
            <a:extLst>
              <a:ext uri="{FF2B5EF4-FFF2-40B4-BE49-F238E27FC236}">
                <a16:creationId xmlns:a16="http://schemas.microsoft.com/office/drawing/2014/main" id="{A104D59D-6B98-CB7C-BC8C-2D269762DFA5}"/>
              </a:ext>
            </a:extLst>
          </p:cNvPr>
          <p:cNvSpPr txBox="1">
            <a:spLocks noGrp="1"/>
          </p:cNvSpPr>
          <p:nvPr>
            <p:ph type="subTitle" idx="2"/>
          </p:nvPr>
        </p:nvSpPr>
        <p:spPr>
          <a:xfrm>
            <a:off x="4905921" y="1604382"/>
            <a:ext cx="3944201" cy="2096144"/>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200" b="1" dirty="0">
                <a:solidFill>
                  <a:schemeClr val="tx1">
                    <a:lumMod val="50000"/>
                  </a:schemeClr>
                </a:solidFill>
                <a:latin typeface="Times New Roman" panose="02020603050405020304" pitchFamily="18" charset="0"/>
                <a:cs typeface="Times New Roman" panose="02020603050405020304" pitchFamily="18" charset="0"/>
              </a:rPr>
              <a:t>Benefits:</a:t>
            </a:r>
            <a:r>
              <a:rPr lang="en-US" sz="1200" dirty="0">
                <a:solidFill>
                  <a:schemeClr val="tx1">
                    <a:lumMod val="50000"/>
                  </a:schemeClr>
                </a:solidFill>
                <a:latin typeface="Times New Roman" panose="02020603050405020304" pitchFamily="18" charset="0"/>
                <a:cs typeface="Times New Roman" panose="02020603050405020304" pitchFamily="18" charset="0"/>
              </a:rPr>
              <a:t> Better marketing, retention, allocation of resources.</a:t>
            </a:r>
          </a:p>
          <a:p>
            <a:pPr marL="285750" indent="-285750">
              <a:buFont typeface="Arial" panose="020B0604020202020204" pitchFamily="34" charset="0"/>
              <a:buChar char="•"/>
            </a:pPr>
            <a:r>
              <a:rPr lang="en-US" sz="1200" b="1" dirty="0">
                <a:solidFill>
                  <a:schemeClr val="tx1">
                    <a:lumMod val="50000"/>
                  </a:schemeClr>
                </a:solidFill>
                <a:latin typeface="Times New Roman" panose="02020603050405020304" pitchFamily="18" charset="0"/>
                <a:cs typeface="Times New Roman" panose="02020603050405020304" pitchFamily="18" charset="0"/>
              </a:rPr>
              <a:t>Recommendation's: </a:t>
            </a:r>
            <a:r>
              <a:rPr lang="en-US" sz="1200" dirty="0">
                <a:solidFill>
                  <a:schemeClr val="tx1">
                    <a:lumMod val="50000"/>
                  </a:schemeClr>
                </a:solidFill>
                <a:latin typeface="Times New Roman" panose="02020603050405020304" pitchFamily="18" charset="0"/>
                <a:cs typeface="Times New Roman" panose="02020603050405020304" pitchFamily="18" charset="0"/>
              </a:rPr>
              <a:t>Increase investment into Machine Learning, real-time data and expanding features.</a:t>
            </a:r>
          </a:p>
          <a:p>
            <a:pPr marL="285750" indent="-285750">
              <a:buFont typeface="Arial" panose="020B0604020202020204" pitchFamily="34" charset="0"/>
              <a:buChar char="•"/>
            </a:pPr>
            <a:r>
              <a:rPr lang="en-US" sz="1200" b="1" dirty="0">
                <a:solidFill>
                  <a:schemeClr val="tx1">
                    <a:lumMod val="50000"/>
                  </a:schemeClr>
                </a:solidFill>
                <a:latin typeface="Times New Roman" panose="02020603050405020304" pitchFamily="18" charset="0"/>
                <a:cs typeface="Times New Roman" panose="02020603050405020304" pitchFamily="18" charset="0"/>
              </a:rPr>
              <a:t>Difficulties</a:t>
            </a:r>
            <a:r>
              <a:rPr lang="en-US" sz="1200" dirty="0">
                <a:solidFill>
                  <a:schemeClr val="tx1">
                    <a:lumMod val="50000"/>
                  </a:schemeClr>
                </a:solidFill>
                <a:latin typeface="Times New Roman" panose="02020603050405020304" pitchFamily="18" charset="0"/>
                <a:cs typeface="Times New Roman" panose="02020603050405020304" pitchFamily="18" charset="0"/>
              </a:rPr>
              <a:t>: Type of data, quality of data, model interpretability.</a:t>
            </a:r>
          </a:p>
        </p:txBody>
      </p:sp>
      <p:grpSp>
        <p:nvGrpSpPr>
          <p:cNvPr id="3" name="Google Shape;314;p31">
            <a:extLst>
              <a:ext uri="{FF2B5EF4-FFF2-40B4-BE49-F238E27FC236}">
                <a16:creationId xmlns:a16="http://schemas.microsoft.com/office/drawing/2014/main" id="{16BB7385-83D6-8AD3-5850-C85F57571082}"/>
              </a:ext>
            </a:extLst>
          </p:cNvPr>
          <p:cNvGrpSpPr/>
          <p:nvPr/>
        </p:nvGrpSpPr>
        <p:grpSpPr>
          <a:xfrm>
            <a:off x="-247298" y="-446215"/>
            <a:ext cx="9638610" cy="6030088"/>
            <a:chOff x="-247298" y="-446215"/>
            <a:chExt cx="9638610" cy="6030088"/>
          </a:xfrm>
        </p:grpSpPr>
        <p:sp>
          <p:nvSpPr>
            <p:cNvPr id="4" name="Google Shape;315;p31">
              <a:extLst>
                <a:ext uri="{FF2B5EF4-FFF2-40B4-BE49-F238E27FC236}">
                  <a16:creationId xmlns:a16="http://schemas.microsoft.com/office/drawing/2014/main" id="{4D63A9FB-0EC0-F3DA-34CA-344789300167}"/>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316;p31">
              <a:extLst>
                <a:ext uri="{FF2B5EF4-FFF2-40B4-BE49-F238E27FC236}">
                  <a16:creationId xmlns:a16="http://schemas.microsoft.com/office/drawing/2014/main" id="{C87EDC05-2D89-69CD-C985-3A850D487AE8}"/>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317;p31">
              <a:extLst>
                <a:ext uri="{FF2B5EF4-FFF2-40B4-BE49-F238E27FC236}">
                  <a16:creationId xmlns:a16="http://schemas.microsoft.com/office/drawing/2014/main" id="{FE127C5A-8B9F-CA48-4A04-FC46089F36E0}"/>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318;p31">
              <a:extLst>
                <a:ext uri="{FF2B5EF4-FFF2-40B4-BE49-F238E27FC236}">
                  <a16:creationId xmlns:a16="http://schemas.microsoft.com/office/drawing/2014/main" id="{537E9424-2EBE-A794-D40E-2E0FC72C2282}"/>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319;p31">
              <a:extLst>
                <a:ext uri="{FF2B5EF4-FFF2-40B4-BE49-F238E27FC236}">
                  <a16:creationId xmlns:a16="http://schemas.microsoft.com/office/drawing/2014/main" id="{F774BD0B-7843-946C-739B-5DB2FFA11B06}"/>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20;p31">
              <a:extLst>
                <a:ext uri="{FF2B5EF4-FFF2-40B4-BE49-F238E27FC236}">
                  <a16:creationId xmlns:a16="http://schemas.microsoft.com/office/drawing/2014/main" id="{4F814698-2A27-6945-80DF-5E967A7E876E}"/>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21;p31">
              <a:extLst>
                <a:ext uri="{FF2B5EF4-FFF2-40B4-BE49-F238E27FC236}">
                  <a16:creationId xmlns:a16="http://schemas.microsoft.com/office/drawing/2014/main" id="{6FDFB336-97F5-0AD0-EA55-6227BBD9FBC9}"/>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322;p31">
              <a:extLst>
                <a:ext uri="{FF2B5EF4-FFF2-40B4-BE49-F238E27FC236}">
                  <a16:creationId xmlns:a16="http://schemas.microsoft.com/office/drawing/2014/main" id="{BC2C7DBD-969A-41D1-0387-D8C8569EA988}"/>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2" name="Picture 11">
            <a:extLst>
              <a:ext uri="{FF2B5EF4-FFF2-40B4-BE49-F238E27FC236}">
                <a16:creationId xmlns:a16="http://schemas.microsoft.com/office/drawing/2014/main" id="{EF5F114D-5A25-621B-C5A4-B76B7ABEF780}"/>
              </a:ext>
            </a:extLst>
          </p:cNvPr>
          <p:cNvPicPr>
            <a:picLocks noChangeAspect="1"/>
          </p:cNvPicPr>
          <p:nvPr/>
        </p:nvPicPr>
        <p:blipFill>
          <a:blip r:embed="rId3"/>
          <a:stretch>
            <a:fillRect/>
          </a:stretch>
        </p:blipFill>
        <p:spPr>
          <a:xfrm>
            <a:off x="270001" y="1108564"/>
            <a:ext cx="4308766" cy="2761438"/>
          </a:xfrm>
          <a:prstGeom prst="rect">
            <a:avLst/>
          </a:prstGeom>
        </p:spPr>
      </p:pic>
    </p:spTree>
    <p:extLst>
      <p:ext uri="{BB962C8B-B14F-4D97-AF65-F5344CB8AC3E}">
        <p14:creationId xmlns:p14="http://schemas.microsoft.com/office/powerpoint/2010/main" val="170797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C6D40E9F-D03E-D7A0-C721-4B62C64B9444}"/>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B3F13F2A-E5DC-163B-A20C-EBEC1C607196}"/>
              </a:ext>
            </a:extLst>
          </p:cNvPr>
          <p:cNvSpPr txBox="1">
            <a:spLocks noGrp="1"/>
          </p:cNvSpPr>
          <p:nvPr>
            <p:ph type="title"/>
          </p:nvPr>
        </p:nvSpPr>
        <p:spPr>
          <a:xfrm>
            <a:off x="720000" y="188319"/>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IN" sz="2400" b="1" dirty="0">
                <a:solidFill>
                  <a:srgbClr val="1C232A"/>
                </a:solidFill>
              </a:rPr>
              <a:t>Conclusion and Future Perspectives</a:t>
            </a:r>
            <a:endParaRPr sz="2400" dirty="0">
              <a:solidFill>
                <a:srgbClr val="1C232A"/>
              </a:solidFill>
              <a:latin typeface="Times New Roman" panose="02020603050405020304" pitchFamily="18" charset="0"/>
              <a:cs typeface="Times New Roman" panose="02020603050405020304" pitchFamily="18" charset="0"/>
            </a:endParaRPr>
          </a:p>
        </p:txBody>
      </p:sp>
      <p:sp>
        <p:nvSpPr>
          <p:cNvPr id="457" name="Google Shape;457;p41">
            <a:extLst>
              <a:ext uri="{FF2B5EF4-FFF2-40B4-BE49-F238E27FC236}">
                <a16:creationId xmlns:a16="http://schemas.microsoft.com/office/drawing/2014/main" id="{60BB0350-CA07-DA93-A841-D23397A6C0EF}"/>
              </a:ext>
            </a:extLst>
          </p:cNvPr>
          <p:cNvSpPr txBox="1">
            <a:spLocks noGrp="1"/>
          </p:cNvSpPr>
          <p:nvPr>
            <p:ph type="subTitle" idx="2"/>
          </p:nvPr>
        </p:nvSpPr>
        <p:spPr>
          <a:xfrm>
            <a:off x="743329" y="1269219"/>
            <a:ext cx="3256650" cy="3805881"/>
          </a:xfrm>
          <a:prstGeom prst="rect">
            <a:avLst/>
          </a:prstGeom>
        </p:spPr>
        <p:txBody>
          <a:bodyPr spcFirstLastPara="1" wrap="square" lIns="91425" tIns="91425" rIns="91425" bIns="91425" anchor="t" anchorCtr="0">
            <a:noAutofit/>
          </a:bodyPr>
          <a:lstStyle/>
          <a:p>
            <a:pPr marL="0" indent="0"/>
            <a:r>
              <a:rPr lang="en-US" sz="1200" b="1" dirty="0">
                <a:solidFill>
                  <a:srgbClr val="1C232A"/>
                </a:solidFill>
                <a:latin typeface="Times New Roman" panose="02020603050405020304" pitchFamily="18" charset="0"/>
                <a:cs typeface="Times New Roman" panose="02020603050405020304" pitchFamily="18" charset="0"/>
              </a:rPr>
              <a:t>Conclusion: </a:t>
            </a:r>
          </a:p>
          <a:p>
            <a:pPr marL="285750" indent="-285750">
              <a:buFont typeface="Arial" panose="020B0604020202020204" pitchFamily="34" charset="0"/>
              <a:buChar char="•"/>
            </a:pPr>
            <a:r>
              <a:rPr lang="en-US" sz="1200" dirty="0">
                <a:solidFill>
                  <a:srgbClr val="1C232A"/>
                </a:solidFill>
                <a:latin typeface="Times New Roman" panose="02020603050405020304" pitchFamily="18" charset="0"/>
                <a:cs typeface="Times New Roman" panose="02020603050405020304" pitchFamily="18" charset="0"/>
              </a:rPr>
              <a:t>Machine Learning improves Customer Lifetime Value estimation and decision-making.</a:t>
            </a:r>
          </a:p>
          <a:p>
            <a:pPr marL="285750" indent="-285750" rtl="0" eaLnBrk="0" fontAlgn="base" latinLnBrk="0" hangingPunct="0">
              <a:buFont typeface="Arial" panose="020B0604020202020204" pitchFamily="34" charset="0"/>
              <a:buChar char="•"/>
            </a:pPr>
            <a:r>
              <a:rPr lang="en-US" sz="1200" b="0" i="0" kern="1200" baseline="0" dirty="0">
                <a:ln>
                  <a:noFill/>
                </a:ln>
                <a:solidFill>
                  <a:srgbClr val="1C232A"/>
                </a:solidFill>
                <a:effectLst/>
                <a:latin typeface="Times New Roman" panose="02020603050405020304" pitchFamily="18" charset="0"/>
                <a:ea typeface="+mn-ea"/>
                <a:cs typeface="Times New Roman" panose="02020603050405020304" pitchFamily="18" charset="0"/>
              </a:rPr>
              <a:t>Traditional methods are surpassed by ensemble models.</a:t>
            </a:r>
            <a:endParaRPr lang="en-IN" sz="1200" dirty="0">
              <a:solidFill>
                <a:srgbClr val="1C232A"/>
              </a:solidFill>
              <a:effectLst/>
              <a:latin typeface="Times New Roman" panose="02020603050405020304" pitchFamily="18" charset="0"/>
              <a:cs typeface="Times New Roman" panose="02020603050405020304" pitchFamily="18" charset="0"/>
            </a:endParaRPr>
          </a:p>
          <a:p>
            <a:pPr marL="285750" indent="-285750" algn="l" rtl="0" eaLnBrk="0" fontAlgn="base" latinLnBrk="0" hangingPunct="0">
              <a:buFont typeface="Arial" panose="020B0604020202020204" pitchFamily="34" charset="0"/>
              <a:buChar char="•"/>
            </a:pPr>
            <a:r>
              <a:rPr lang="en-US" sz="1200" b="0" i="0" kern="1200" baseline="0" dirty="0">
                <a:ln>
                  <a:noFill/>
                </a:ln>
                <a:solidFill>
                  <a:srgbClr val="1C232A"/>
                </a:solidFill>
                <a:effectLst/>
                <a:latin typeface="Times New Roman" panose="02020603050405020304" pitchFamily="18" charset="0"/>
                <a:ea typeface="+mn-ea"/>
                <a:cs typeface="Times New Roman" panose="02020603050405020304" pitchFamily="18" charset="0"/>
              </a:rPr>
              <a:t>Actionable insights for maximizing the value of the customer. </a:t>
            </a:r>
            <a:endParaRPr lang="en-US" sz="1200" dirty="0">
              <a:solidFill>
                <a:srgbClr val="1C232A"/>
              </a:solidFill>
              <a:latin typeface="Times New Roman" panose="02020603050405020304" pitchFamily="18" charset="0"/>
              <a:cs typeface="Times New Roman" panose="02020603050405020304" pitchFamily="18" charset="0"/>
            </a:endParaRPr>
          </a:p>
        </p:txBody>
      </p:sp>
      <p:grpSp>
        <p:nvGrpSpPr>
          <p:cNvPr id="3" name="Google Shape;314;p31">
            <a:extLst>
              <a:ext uri="{FF2B5EF4-FFF2-40B4-BE49-F238E27FC236}">
                <a16:creationId xmlns:a16="http://schemas.microsoft.com/office/drawing/2014/main" id="{9E05DBCC-E5D9-BAA3-E56A-DF990185F138}"/>
              </a:ext>
            </a:extLst>
          </p:cNvPr>
          <p:cNvGrpSpPr/>
          <p:nvPr/>
        </p:nvGrpSpPr>
        <p:grpSpPr>
          <a:xfrm>
            <a:off x="-247298" y="-446215"/>
            <a:ext cx="9638610" cy="6030088"/>
            <a:chOff x="-247298" y="-446215"/>
            <a:chExt cx="9638610" cy="6030088"/>
          </a:xfrm>
        </p:grpSpPr>
        <p:sp>
          <p:nvSpPr>
            <p:cNvPr id="4" name="Google Shape;315;p31">
              <a:extLst>
                <a:ext uri="{FF2B5EF4-FFF2-40B4-BE49-F238E27FC236}">
                  <a16:creationId xmlns:a16="http://schemas.microsoft.com/office/drawing/2014/main" id="{2FC00859-AB5F-5E96-962C-E142F0B55883}"/>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5" name="Google Shape;316;p31">
              <a:extLst>
                <a:ext uri="{FF2B5EF4-FFF2-40B4-BE49-F238E27FC236}">
                  <a16:creationId xmlns:a16="http://schemas.microsoft.com/office/drawing/2014/main" id="{3EA6D765-FE7C-EDA1-DAAA-7D1C34DFD9DC}"/>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6" name="Google Shape;317;p31">
              <a:extLst>
                <a:ext uri="{FF2B5EF4-FFF2-40B4-BE49-F238E27FC236}">
                  <a16:creationId xmlns:a16="http://schemas.microsoft.com/office/drawing/2014/main" id="{529A15A0-1710-F270-F5B5-60DBAEE73AA3}"/>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7" name="Google Shape;318;p31">
              <a:extLst>
                <a:ext uri="{FF2B5EF4-FFF2-40B4-BE49-F238E27FC236}">
                  <a16:creationId xmlns:a16="http://schemas.microsoft.com/office/drawing/2014/main" id="{EC3005A8-0DB9-112B-44F5-769A45A01B49}"/>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8" name="Google Shape;319;p31">
              <a:extLst>
                <a:ext uri="{FF2B5EF4-FFF2-40B4-BE49-F238E27FC236}">
                  <a16:creationId xmlns:a16="http://schemas.microsoft.com/office/drawing/2014/main" id="{11D9D8F5-1E51-CC93-D4B7-BB1853ED7D7D}"/>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9" name="Google Shape;320;p31">
              <a:extLst>
                <a:ext uri="{FF2B5EF4-FFF2-40B4-BE49-F238E27FC236}">
                  <a16:creationId xmlns:a16="http://schemas.microsoft.com/office/drawing/2014/main" id="{4FB99510-A2A1-6FA0-4D59-9CF4366A1C5A}"/>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0" name="Google Shape;321;p31">
              <a:extLst>
                <a:ext uri="{FF2B5EF4-FFF2-40B4-BE49-F238E27FC236}">
                  <a16:creationId xmlns:a16="http://schemas.microsoft.com/office/drawing/2014/main" id="{60822877-5DAF-CA50-57C2-E04BE26CE84B}"/>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1" name="Google Shape;322;p31">
              <a:extLst>
                <a:ext uri="{FF2B5EF4-FFF2-40B4-BE49-F238E27FC236}">
                  <a16:creationId xmlns:a16="http://schemas.microsoft.com/office/drawing/2014/main" id="{9EDED45D-C5DA-CF79-2E3A-1FE58D8DE996}"/>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grpSp>
      <p:sp>
        <p:nvSpPr>
          <p:cNvPr id="2" name="TextBox 1">
            <a:extLst>
              <a:ext uri="{FF2B5EF4-FFF2-40B4-BE49-F238E27FC236}">
                <a16:creationId xmlns:a16="http://schemas.microsoft.com/office/drawing/2014/main" id="{C1C2ED74-3F07-908A-E6BC-6151EBE95F42}"/>
              </a:ext>
            </a:extLst>
          </p:cNvPr>
          <p:cNvSpPr txBox="1"/>
          <p:nvPr/>
        </p:nvSpPr>
        <p:spPr>
          <a:xfrm>
            <a:off x="5037364" y="1017724"/>
            <a:ext cx="3192236" cy="2708434"/>
          </a:xfrm>
          <a:prstGeom prst="rect">
            <a:avLst/>
          </a:prstGeom>
          <a:noFill/>
        </p:spPr>
        <p:txBody>
          <a:bodyPr wrap="square" rtlCol="0">
            <a:spAutoFit/>
          </a:bodyPr>
          <a:lstStyle/>
          <a:p>
            <a:pPr marL="0" indent="0"/>
            <a:r>
              <a:rPr lang="en-US" sz="1200" b="1" kern="1200" dirty="0">
                <a:solidFill>
                  <a:srgbClr val="1C232A"/>
                </a:solidFill>
                <a:latin typeface="Times New Roman" panose="02020603050405020304" pitchFamily="18" charset="0"/>
                <a:ea typeface="+mn-ea"/>
                <a:cs typeface="Times New Roman" panose="02020603050405020304" pitchFamily="18" charset="0"/>
                <a:sym typeface="DM Sans"/>
              </a:rPr>
              <a:t>Future:</a:t>
            </a:r>
            <a:br>
              <a:rPr lang="en-US" sz="1200" b="1" kern="1200" dirty="0">
                <a:solidFill>
                  <a:srgbClr val="1C232A"/>
                </a:solidFill>
                <a:latin typeface="Times New Roman" panose="02020603050405020304" pitchFamily="18" charset="0"/>
                <a:ea typeface="+mn-ea"/>
                <a:cs typeface="Times New Roman" panose="02020603050405020304" pitchFamily="18" charset="0"/>
                <a:sym typeface="DM Sans"/>
              </a:rPr>
            </a:br>
            <a:r>
              <a:rPr lang="en-US" sz="1200" b="1" kern="1200" dirty="0">
                <a:solidFill>
                  <a:srgbClr val="1C232A"/>
                </a:solidFill>
                <a:latin typeface="Times New Roman" panose="02020603050405020304" pitchFamily="18" charset="0"/>
                <a:ea typeface="+mn-ea"/>
                <a:cs typeface="Times New Roman" panose="02020603050405020304" pitchFamily="18" charset="0"/>
                <a:sym typeface="DM Sans"/>
              </a:rPr>
              <a:t> </a:t>
            </a:r>
          </a:p>
          <a:p>
            <a:pPr marL="285750" indent="-285750">
              <a:buFont typeface="Arial" panose="020B0604020202020204" pitchFamily="34" charset="0"/>
              <a:buChar char="•"/>
            </a:pP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Real-time data, explainable AI(</a:t>
            </a:r>
            <a:r>
              <a:rPr lang="en-GB" sz="1200" kern="1200" dirty="0">
                <a:solidFill>
                  <a:srgbClr val="1C232A"/>
                </a:solidFill>
                <a:latin typeface="Times New Roman" panose="02020603050405020304" pitchFamily="18" charset="0"/>
                <a:ea typeface="+mn-ea"/>
                <a:cs typeface="Times New Roman" panose="02020603050405020304" pitchFamily="18" charset="0"/>
                <a:sym typeface="DM Sans"/>
              </a:rPr>
              <a:t>Artificial Intelligence</a:t>
            </a: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 and sector-specific models.</a:t>
            </a:r>
            <a:b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br>
            <a:endParaRPr lang="en-US" sz="1200" kern="1200" dirty="0">
              <a:solidFill>
                <a:srgbClr val="1C232A"/>
              </a:solidFill>
              <a:latin typeface="Times New Roman" panose="02020603050405020304" pitchFamily="18" charset="0"/>
              <a:ea typeface="+mn-ea"/>
              <a:cs typeface="Times New Roman" panose="02020603050405020304" pitchFamily="18" charset="0"/>
              <a:sym typeface="DM Sans"/>
            </a:endParaRPr>
          </a:p>
          <a:p>
            <a:pPr marL="285750" indent="-285750">
              <a:buFont typeface="Arial" panose="020B0604020202020204" pitchFamily="34" charset="0"/>
              <a:buChar char="•"/>
            </a:pP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Then you should adopt ensemble models like XG Boost and Random Forest.</a:t>
            </a:r>
            <a:b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br>
            <a:endParaRPr lang="en-US" sz="1200" kern="1200" dirty="0">
              <a:solidFill>
                <a:srgbClr val="1C232A"/>
              </a:solidFill>
              <a:latin typeface="Times New Roman" panose="02020603050405020304" pitchFamily="18" charset="0"/>
              <a:ea typeface="+mn-ea"/>
              <a:cs typeface="Times New Roman" panose="02020603050405020304" pitchFamily="18" charset="0"/>
              <a:sym typeface="DM Sans"/>
            </a:endParaRPr>
          </a:p>
          <a:p>
            <a:pPr marL="285750" indent="-285750">
              <a:buFont typeface="Arial" panose="020B0604020202020204" pitchFamily="34" charset="0"/>
              <a:buChar char="•"/>
            </a:pP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Incorporate real-time data.</a:t>
            </a:r>
            <a:b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br>
            <a:endParaRPr lang="en-US" sz="1200" kern="1200" dirty="0">
              <a:solidFill>
                <a:srgbClr val="1C232A"/>
              </a:solidFill>
              <a:latin typeface="Times New Roman" panose="02020603050405020304" pitchFamily="18" charset="0"/>
              <a:ea typeface="+mn-ea"/>
              <a:cs typeface="Times New Roman" panose="02020603050405020304" pitchFamily="18" charset="0"/>
              <a:sym typeface="DM Sans"/>
            </a:endParaRPr>
          </a:p>
          <a:p>
            <a:pPr marL="285750" indent="-285750">
              <a:buFont typeface="Arial" panose="020B0604020202020204" pitchFamily="34" charset="0"/>
              <a:buChar char="•"/>
            </a:pP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Develop unified data systems.</a:t>
            </a:r>
            <a:b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br>
            <a:endParaRPr lang="en-US" sz="1200" kern="1200" dirty="0">
              <a:solidFill>
                <a:srgbClr val="1C232A"/>
              </a:solidFill>
              <a:latin typeface="Times New Roman" panose="02020603050405020304" pitchFamily="18" charset="0"/>
              <a:ea typeface="+mn-ea"/>
              <a:cs typeface="Times New Roman" panose="02020603050405020304" pitchFamily="18" charset="0"/>
              <a:sym typeface="DM Sans"/>
            </a:endParaRPr>
          </a:p>
          <a:p>
            <a:pPr marL="285750" indent="-285750">
              <a:buFont typeface="Arial" panose="020B0604020202020204" pitchFamily="34" charset="0"/>
              <a:buChar char="•"/>
            </a:pPr>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Optimize models continuously. </a:t>
            </a:r>
          </a:p>
          <a:p>
            <a:endParaRPr lang="en-GB" dirty="0">
              <a:solidFill>
                <a:srgbClr val="1C232A"/>
              </a:solidFill>
            </a:endParaRPr>
          </a:p>
        </p:txBody>
      </p:sp>
      <p:sp>
        <p:nvSpPr>
          <p:cNvPr id="12" name="TextBox 11">
            <a:extLst>
              <a:ext uri="{FF2B5EF4-FFF2-40B4-BE49-F238E27FC236}">
                <a16:creationId xmlns:a16="http://schemas.microsoft.com/office/drawing/2014/main" id="{8FD9808D-48E3-CC03-075C-4CA7C5D08936}"/>
              </a:ext>
            </a:extLst>
          </p:cNvPr>
          <p:cNvSpPr txBox="1"/>
          <p:nvPr/>
        </p:nvSpPr>
        <p:spPr>
          <a:xfrm>
            <a:off x="5037364" y="3954615"/>
            <a:ext cx="3592286" cy="646331"/>
          </a:xfrm>
          <a:prstGeom prst="rect">
            <a:avLst/>
          </a:prstGeom>
          <a:noFill/>
        </p:spPr>
        <p:txBody>
          <a:bodyPr wrap="square" rtlCol="0">
            <a:spAutoFit/>
          </a:bodyPr>
          <a:lstStyle/>
          <a:p>
            <a:pPr marL="0" indent="0"/>
            <a:r>
              <a:rPr lang="en-US" sz="1200" b="1" kern="1200" dirty="0">
                <a:solidFill>
                  <a:srgbClr val="1C232A"/>
                </a:solidFill>
                <a:latin typeface="Times New Roman" panose="02020603050405020304" pitchFamily="18" charset="0"/>
                <a:ea typeface="+mn-ea"/>
                <a:cs typeface="Times New Roman" panose="02020603050405020304" pitchFamily="18" charset="0"/>
                <a:sym typeface="DM Sans"/>
              </a:rPr>
              <a:t>Goal: </a:t>
            </a:r>
          </a:p>
          <a:p>
            <a:pPr marL="0" indent="0"/>
            <a:r>
              <a:rPr lang="en-US" sz="1200" kern="1200" dirty="0">
                <a:solidFill>
                  <a:srgbClr val="1C232A"/>
                </a:solidFill>
                <a:latin typeface="Times New Roman" panose="02020603050405020304" pitchFamily="18" charset="0"/>
                <a:ea typeface="+mn-ea"/>
                <a:cs typeface="Times New Roman" panose="02020603050405020304" pitchFamily="18" charset="0"/>
                <a:sym typeface="DM Sans"/>
              </a:rPr>
              <a:t>Drive innovation in customer analytics.</a:t>
            </a:r>
          </a:p>
          <a:p>
            <a:endParaRPr lang="en-GB" sz="1200" dirty="0">
              <a:solidFill>
                <a:srgbClr val="1C232A"/>
              </a:solidFill>
            </a:endParaRPr>
          </a:p>
        </p:txBody>
      </p:sp>
    </p:spTree>
    <p:extLst>
      <p:ext uri="{BB962C8B-B14F-4D97-AF65-F5344CB8AC3E}">
        <p14:creationId xmlns:p14="http://schemas.microsoft.com/office/powerpoint/2010/main" val="27205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44C9D972-ADE1-336D-FA99-5BB2ADBE2BDA}"/>
            </a:ext>
          </a:extLst>
        </p:cNvPr>
        <p:cNvGrpSpPr/>
        <p:nvPr/>
      </p:nvGrpSpPr>
      <p:grpSpPr>
        <a:xfrm>
          <a:off x="0" y="0"/>
          <a:ext cx="0" cy="0"/>
          <a:chOff x="0" y="0"/>
          <a:chExt cx="0" cy="0"/>
        </a:xfrm>
      </p:grpSpPr>
      <p:sp>
        <p:nvSpPr>
          <p:cNvPr id="455" name="Google Shape;455;p41">
            <a:extLst>
              <a:ext uri="{FF2B5EF4-FFF2-40B4-BE49-F238E27FC236}">
                <a16:creationId xmlns:a16="http://schemas.microsoft.com/office/drawing/2014/main" id="{BF417AC2-0D87-112C-D0BA-B7D9F7F3E356}"/>
              </a:ext>
            </a:extLst>
          </p:cNvPr>
          <p:cNvSpPr txBox="1">
            <a:spLocks noGrp="1"/>
          </p:cNvSpPr>
          <p:nvPr>
            <p:ph type="title"/>
          </p:nvPr>
        </p:nvSpPr>
        <p:spPr>
          <a:xfrm>
            <a:off x="673672" y="11244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dirty="0">
                <a:solidFill>
                  <a:srgbClr val="1C232A"/>
                </a:solidFill>
                <a:cs typeface="Times New Roman" panose="02020603050405020304" pitchFamily="18" charset="0"/>
              </a:rPr>
              <a:t>Reference</a:t>
            </a:r>
            <a:endParaRPr sz="2400" dirty="0">
              <a:solidFill>
                <a:srgbClr val="1C232A"/>
              </a:solidFill>
              <a:cs typeface="Times New Roman" panose="02020603050405020304" pitchFamily="18" charset="0"/>
            </a:endParaRPr>
          </a:p>
        </p:txBody>
      </p:sp>
      <p:sp>
        <p:nvSpPr>
          <p:cNvPr id="457" name="Google Shape;457;p41">
            <a:extLst>
              <a:ext uri="{FF2B5EF4-FFF2-40B4-BE49-F238E27FC236}">
                <a16:creationId xmlns:a16="http://schemas.microsoft.com/office/drawing/2014/main" id="{35E4DCB2-2BE9-731A-CB9F-969CB6D94C7A}"/>
              </a:ext>
            </a:extLst>
          </p:cNvPr>
          <p:cNvSpPr txBox="1">
            <a:spLocks noGrp="1"/>
          </p:cNvSpPr>
          <p:nvPr>
            <p:ph type="subTitle" idx="2"/>
          </p:nvPr>
        </p:nvSpPr>
        <p:spPr>
          <a:xfrm>
            <a:off x="346967" y="1243811"/>
            <a:ext cx="8506047" cy="3508744"/>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200" dirty="0">
                <a:solidFill>
                  <a:srgbClr val="1C232A"/>
                </a:solidFill>
                <a:latin typeface="Times New Roman" panose="02020603050405020304" pitchFamily="18" charset="0"/>
                <a:cs typeface="Times New Roman" panose="02020603050405020304" pitchFamily="18" charset="0"/>
              </a:rPr>
              <a:t>Schröer, C., Kruse, F. and Gómez, J.M., 2021. A systematic literature review on applying CRISP-DM process model. Procedia Computer Science, 181, pp.526-534.</a:t>
            </a:r>
          </a:p>
          <a:p>
            <a:pPr marL="285750" indent="-285750">
              <a:buFont typeface="Arial" panose="020B0604020202020204" pitchFamily="34" charset="0"/>
              <a:buChar char="•"/>
            </a:pPr>
            <a:r>
              <a:rPr lang="en-US" sz="1200" dirty="0">
                <a:solidFill>
                  <a:srgbClr val="1C232A"/>
                </a:solidFill>
                <a:latin typeface="Times New Roman" panose="02020603050405020304" pitchFamily="18" charset="0"/>
                <a:cs typeface="Times New Roman" panose="02020603050405020304" pitchFamily="18" charset="0"/>
              </a:rPr>
              <a:t>Snyder, H., 2019. Literature review as a research methodology: An overview and guidelines. Journal of business research, 104, pp.333-339.</a:t>
            </a:r>
          </a:p>
          <a:p>
            <a:pPr marL="285750" indent="-285750">
              <a:buFont typeface="Arial" panose="020B0604020202020204" pitchFamily="34" charset="0"/>
              <a:buChar char="•"/>
            </a:pPr>
            <a:r>
              <a:rPr lang="en-US" sz="1200" dirty="0" err="1">
                <a:solidFill>
                  <a:srgbClr val="1C232A"/>
                </a:solidFill>
                <a:latin typeface="Times New Roman" panose="02020603050405020304" pitchFamily="18" charset="0"/>
                <a:cs typeface="Times New Roman" panose="02020603050405020304" pitchFamily="18" charset="0"/>
              </a:rPr>
              <a:t>Charbuty</a:t>
            </a:r>
            <a:r>
              <a:rPr lang="en-US" sz="1200" dirty="0">
                <a:solidFill>
                  <a:srgbClr val="1C232A"/>
                </a:solidFill>
                <a:latin typeface="Times New Roman" panose="02020603050405020304" pitchFamily="18" charset="0"/>
                <a:cs typeface="Times New Roman" panose="02020603050405020304" pitchFamily="18" charset="0"/>
              </a:rPr>
              <a:t>, B. and Abdulazeez, A., 2021. Classification based on decision tree algorithm for machine learning. Journal of Applied Science and Technology Trends, 2(01), pp.20-28.</a:t>
            </a:r>
          </a:p>
          <a:p>
            <a:pPr marL="285750" indent="-285750">
              <a:buFont typeface="Arial" panose="020B0604020202020204" pitchFamily="34" charset="0"/>
              <a:buChar char="•"/>
            </a:pPr>
            <a:r>
              <a:rPr lang="en-US" sz="1200" dirty="0">
                <a:solidFill>
                  <a:srgbClr val="1C232A"/>
                </a:solidFill>
                <a:latin typeface="Times New Roman" panose="02020603050405020304" pitchFamily="18" charset="0"/>
                <a:cs typeface="Times New Roman" panose="02020603050405020304" pitchFamily="18" charset="0"/>
              </a:rPr>
              <a:t>Whittemore, R. and </a:t>
            </a:r>
            <a:r>
              <a:rPr lang="en-US" sz="1200" dirty="0" err="1">
                <a:solidFill>
                  <a:srgbClr val="1C232A"/>
                </a:solidFill>
                <a:latin typeface="Times New Roman" panose="02020603050405020304" pitchFamily="18" charset="0"/>
                <a:cs typeface="Times New Roman" panose="02020603050405020304" pitchFamily="18" charset="0"/>
              </a:rPr>
              <a:t>Knafl</a:t>
            </a:r>
            <a:r>
              <a:rPr lang="en-US" sz="1200" dirty="0">
                <a:solidFill>
                  <a:srgbClr val="1C232A"/>
                </a:solidFill>
                <a:latin typeface="Times New Roman" panose="02020603050405020304" pitchFamily="18" charset="0"/>
                <a:cs typeface="Times New Roman" panose="02020603050405020304" pitchFamily="18" charset="0"/>
              </a:rPr>
              <a:t>, K., 2005. The integrative review: updated methodology. Journal of advanced nursing, 52(5), pp.546-553.</a:t>
            </a:r>
          </a:p>
          <a:p>
            <a:pPr marL="285750" indent="-285750">
              <a:buFont typeface="Arial" panose="020B0604020202020204" pitchFamily="34" charset="0"/>
              <a:buChar char="•"/>
            </a:pPr>
            <a:r>
              <a:rPr lang="en-US" sz="1200" dirty="0" err="1">
                <a:solidFill>
                  <a:srgbClr val="1C232A"/>
                </a:solidFill>
                <a:latin typeface="Times New Roman" panose="02020603050405020304" pitchFamily="18" charset="0"/>
                <a:cs typeface="Times New Roman" panose="02020603050405020304" pitchFamily="18" charset="0"/>
              </a:rPr>
              <a:t>Navada</a:t>
            </a:r>
            <a:r>
              <a:rPr lang="en-US" sz="1200" dirty="0">
                <a:solidFill>
                  <a:srgbClr val="1C232A"/>
                </a:solidFill>
                <a:latin typeface="Times New Roman" panose="02020603050405020304" pitchFamily="18" charset="0"/>
                <a:cs typeface="Times New Roman" panose="02020603050405020304" pitchFamily="18" charset="0"/>
              </a:rPr>
              <a:t>, A., Ansari, A.N., Patil, S. and </a:t>
            </a:r>
            <a:r>
              <a:rPr lang="en-US" sz="1200" dirty="0" err="1">
                <a:solidFill>
                  <a:srgbClr val="1C232A"/>
                </a:solidFill>
                <a:latin typeface="Times New Roman" panose="02020603050405020304" pitchFamily="18" charset="0"/>
                <a:cs typeface="Times New Roman" panose="02020603050405020304" pitchFamily="18" charset="0"/>
              </a:rPr>
              <a:t>Sonkamble</a:t>
            </a:r>
            <a:r>
              <a:rPr lang="en-US" sz="1200" dirty="0">
                <a:solidFill>
                  <a:srgbClr val="1C232A"/>
                </a:solidFill>
                <a:latin typeface="Times New Roman" panose="02020603050405020304" pitchFamily="18" charset="0"/>
                <a:cs typeface="Times New Roman" panose="02020603050405020304" pitchFamily="18" charset="0"/>
              </a:rPr>
              <a:t>, B.A., 2011, June. Overview of use of decision tree algorithms in machine learning. In 2011 IEEE control and system graduate research colloquium (pp. 37-42). IEEE.</a:t>
            </a:r>
          </a:p>
          <a:p>
            <a:pPr marL="0" indent="0"/>
            <a:endParaRPr lang="en-US" sz="1200" dirty="0">
              <a:solidFill>
                <a:srgbClr val="1C232A"/>
              </a:solidFill>
              <a:latin typeface="Times New Roman" panose="02020603050405020304" pitchFamily="18" charset="0"/>
              <a:cs typeface="Times New Roman" panose="02020603050405020304" pitchFamily="18" charset="0"/>
            </a:endParaRPr>
          </a:p>
        </p:txBody>
      </p:sp>
      <p:grpSp>
        <p:nvGrpSpPr>
          <p:cNvPr id="2" name="Google Shape;314;p31">
            <a:extLst>
              <a:ext uri="{FF2B5EF4-FFF2-40B4-BE49-F238E27FC236}">
                <a16:creationId xmlns:a16="http://schemas.microsoft.com/office/drawing/2014/main" id="{D1875D93-B7B0-2D5D-DE38-172EF09808DC}"/>
              </a:ext>
            </a:extLst>
          </p:cNvPr>
          <p:cNvGrpSpPr/>
          <p:nvPr/>
        </p:nvGrpSpPr>
        <p:grpSpPr>
          <a:xfrm>
            <a:off x="-247298" y="-446215"/>
            <a:ext cx="9638610" cy="6030088"/>
            <a:chOff x="-247298" y="-446215"/>
            <a:chExt cx="9638610" cy="6030088"/>
          </a:xfrm>
        </p:grpSpPr>
        <p:sp>
          <p:nvSpPr>
            <p:cNvPr id="3" name="Google Shape;315;p31">
              <a:extLst>
                <a:ext uri="{FF2B5EF4-FFF2-40B4-BE49-F238E27FC236}">
                  <a16:creationId xmlns:a16="http://schemas.microsoft.com/office/drawing/2014/main" id="{02ED9B3E-69FE-C03E-E031-6D8411BA8794}"/>
                </a:ext>
              </a:extLst>
            </p:cNvPr>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4" name="Google Shape;316;p31">
              <a:extLst>
                <a:ext uri="{FF2B5EF4-FFF2-40B4-BE49-F238E27FC236}">
                  <a16:creationId xmlns:a16="http://schemas.microsoft.com/office/drawing/2014/main" id="{9BFBFBDD-3A4C-8FB9-17C1-00DDCFA03E31}"/>
                </a:ext>
              </a:extLst>
            </p:cNvPr>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5" name="Google Shape;317;p31">
              <a:extLst>
                <a:ext uri="{FF2B5EF4-FFF2-40B4-BE49-F238E27FC236}">
                  <a16:creationId xmlns:a16="http://schemas.microsoft.com/office/drawing/2014/main" id="{F4F3D7F7-F638-A2D1-4532-814372CD7586}"/>
                </a:ext>
              </a:extLst>
            </p:cNvPr>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6" name="Google Shape;318;p31">
              <a:extLst>
                <a:ext uri="{FF2B5EF4-FFF2-40B4-BE49-F238E27FC236}">
                  <a16:creationId xmlns:a16="http://schemas.microsoft.com/office/drawing/2014/main" id="{8C5BDA84-9F12-43D0-7349-2641E5B8A91F}"/>
                </a:ext>
              </a:extLst>
            </p:cNvPr>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7" name="Google Shape;319;p31">
              <a:extLst>
                <a:ext uri="{FF2B5EF4-FFF2-40B4-BE49-F238E27FC236}">
                  <a16:creationId xmlns:a16="http://schemas.microsoft.com/office/drawing/2014/main" id="{8D5D3217-F333-EE29-A23C-25626CB320B7}"/>
                </a:ext>
              </a:extLst>
            </p:cNvPr>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8" name="Google Shape;320;p31">
              <a:extLst>
                <a:ext uri="{FF2B5EF4-FFF2-40B4-BE49-F238E27FC236}">
                  <a16:creationId xmlns:a16="http://schemas.microsoft.com/office/drawing/2014/main" id="{6AE57791-792F-77EE-2DA5-B8FF207A758F}"/>
                </a:ext>
              </a:extLst>
            </p:cNvPr>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9" name="Google Shape;321;p31">
              <a:extLst>
                <a:ext uri="{FF2B5EF4-FFF2-40B4-BE49-F238E27FC236}">
                  <a16:creationId xmlns:a16="http://schemas.microsoft.com/office/drawing/2014/main" id="{CF4B35BE-6594-1636-FA02-697B7EFFA7B4}"/>
                </a:ext>
              </a:extLst>
            </p:cNvPr>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sp>
          <p:nvSpPr>
            <p:cNvPr id="10" name="Google Shape;322;p31">
              <a:extLst>
                <a:ext uri="{FF2B5EF4-FFF2-40B4-BE49-F238E27FC236}">
                  <a16:creationId xmlns:a16="http://schemas.microsoft.com/office/drawing/2014/main" id="{C96195F8-420E-E1EF-CE22-A327ED4AF1FF}"/>
                </a:ext>
              </a:extLst>
            </p:cNvPr>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C232A"/>
                </a:solidFill>
              </a:endParaRPr>
            </a:p>
          </p:txBody>
        </p:sp>
      </p:grpSp>
    </p:spTree>
    <p:extLst>
      <p:ext uri="{BB962C8B-B14F-4D97-AF65-F5344CB8AC3E}">
        <p14:creationId xmlns:p14="http://schemas.microsoft.com/office/powerpoint/2010/main" val="1791943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hank You Slide Royalty-Free Images, Stock Photos &amp; Pictures | Shutterstock">
            <a:extLst>
              <a:ext uri="{FF2B5EF4-FFF2-40B4-BE49-F238E27FC236}">
                <a16:creationId xmlns:a16="http://schemas.microsoft.com/office/drawing/2014/main" id="{5FB2B57B-CE7A-DB29-269B-D77175EB59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38"/>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952698"/>
      </p:ext>
    </p:extLst>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8833</TotalTime>
  <Words>839</Words>
  <Application>Microsoft Office PowerPoint</Application>
  <PresentationFormat>On-screen Show (16:9)</PresentationFormat>
  <Paragraphs>97</Paragraphs>
  <Slides>11</Slides>
  <Notes>10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11</vt:i4>
      </vt:variant>
    </vt:vector>
  </HeadingPairs>
  <TitlesOfParts>
    <vt:vector size="23" baseType="lpstr">
      <vt:lpstr>Titillium Web</vt:lpstr>
      <vt:lpstr>Calibri Light</vt:lpstr>
      <vt:lpstr>Times New Roman</vt:lpstr>
      <vt:lpstr>Arial</vt:lpstr>
      <vt:lpstr>Calibri</vt:lpstr>
      <vt:lpstr>DM Sans</vt:lpstr>
      <vt:lpstr>Outfit</vt:lpstr>
      <vt:lpstr>Data Collection and Analysis - Master of Science in Community Health and Prevention Research by Slidesgo</vt:lpstr>
      <vt:lpstr>3_Custom Design</vt:lpstr>
      <vt:lpstr>2_Custom Design</vt:lpstr>
      <vt:lpstr>Custom Design</vt:lpstr>
      <vt:lpstr>1_Custom Design</vt:lpstr>
      <vt:lpstr>Develop models to estimate the lifetime value of customers based on usage patterns and demographics </vt:lpstr>
      <vt:lpstr>Introduction and Problem Statement</vt:lpstr>
      <vt:lpstr>Research Aim  and Objectives</vt:lpstr>
      <vt:lpstr>Proposed Solutions and Research Methodology</vt:lpstr>
      <vt:lpstr>Literature Review Insights</vt:lpstr>
      <vt:lpstr>Algorithms Used</vt:lpstr>
      <vt:lpstr>Model Performance Comparison</vt:lpstr>
      <vt:lpstr>Business Implications</vt:lpstr>
      <vt:lpstr>Conclusion and Future Perspectives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Siri Chandana Dhurjati</dc:creator>
  <cp:lastModifiedBy>DHURJATI, SIRI CHANDANA (Student)</cp:lastModifiedBy>
  <cp:revision>15</cp:revision>
  <dcterms:modified xsi:type="dcterms:W3CDTF">2025-01-14T12:16:25Z</dcterms:modified>
</cp:coreProperties>
</file>